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5"/>
  </p:notesMasterIdLst>
  <p:sldIdLst>
    <p:sldId id="258" r:id="rId2"/>
    <p:sldId id="259" r:id="rId3"/>
    <p:sldId id="260" r:id="rId4"/>
    <p:sldId id="263" r:id="rId5"/>
    <p:sldId id="268" r:id="rId6"/>
    <p:sldId id="261" r:id="rId7"/>
    <p:sldId id="269" r:id="rId8"/>
    <p:sldId id="267" r:id="rId9"/>
    <p:sldId id="270" r:id="rId10"/>
    <p:sldId id="262" r:id="rId11"/>
    <p:sldId id="264" r:id="rId12"/>
    <p:sldId id="265" r:id="rId13"/>
    <p:sldId id="266" r:id="rId14"/>
  </p:sldIdLst>
  <p:sldSz cx="12192000" cy="6858000"/>
  <p:notesSz cx="6858000" cy="9144000"/>
  <p:defaultTextStyle>
    <a:defPPr>
      <a:defRPr lang="hu-H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B3BFF"/>
    <a:srgbClr val="A31515"/>
    <a:srgbClr val="2B91AF"/>
    <a:srgbClr val="008000"/>
    <a:srgbClr val="E6FFE6"/>
    <a:srgbClr val="EDFDE3"/>
    <a:srgbClr val="E2FCD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Közepesen sötét stílus 2 – 1. jelölőszín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incs stílus, csak rács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3732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Élőfej hely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hu-HU"/>
          </a:p>
        </p:txBody>
      </p:sp>
      <p:sp>
        <p:nvSpPr>
          <p:cNvPr id="3" name="Dátum hely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A9DAECE-B911-4DA8-8DCD-552D874F2436}" type="datetimeFigureOut">
              <a:rPr lang="hu-HU" smtClean="0"/>
              <a:t>2023. 11. 22.</a:t>
            </a:fld>
            <a:endParaRPr lang="hu-HU"/>
          </a:p>
        </p:txBody>
      </p:sp>
      <p:sp>
        <p:nvSpPr>
          <p:cNvPr id="4" name="Diakép hely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hu-HU"/>
          </a:p>
        </p:txBody>
      </p:sp>
      <p:sp>
        <p:nvSpPr>
          <p:cNvPr id="5" name="Jegyzetek hely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6" name="Élőláb hely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hu-HU"/>
          </a:p>
        </p:txBody>
      </p:sp>
      <p:sp>
        <p:nvSpPr>
          <p:cNvPr id="7" name="Dia számának hely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F34939E-1688-4E6C-AA46-41D77938A9A6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0746609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ím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u-HU"/>
              <a:t>Alcím mintájának szerkesztése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B4B2C5E-F01B-498B-8B64-3A9734A39C72}" type="datetimeFigureOut">
              <a:rPr lang="hu-HU" smtClean="0"/>
              <a:t>2023. 11. 22.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7E35DB4-42E9-448F-B3D5-797777E2310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5019475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ím és tarta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>
            <a:lvl1pPr>
              <a:defRPr sz="28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8954" y="926856"/>
            <a:ext cx="11934092" cy="2010807"/>
          </a:xfrm>
          <a:prstGeom prst="rect">
            <a:avLst/>
          </a:prstGeom>
        </p:spPr>
        <p:txBody>
          <a:bodyPr>
            <a:sp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B4B2C5E-F01B-498B-8B64-3A9734A39C72}" type="datetimeFigureOut">
              <a:rPr lang="hu-HU" smtClean="0"/>
              <a:t>2023. 11. 22.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7E35DB4-42E9-448F-B3D5-797777E2310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5682593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zakaszfejlé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B4B2C5E-F01B-498B-8B64-3A9734A39C72}" type="datetimeFigureOut">
              <a:rPr lang="hu-HU" smtClean="0"/>
              <a:t>2023. 11. 22.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7E35DB4-42E9-448F-B3D5-797777E2310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6981598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tartalomré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B4B2C5E-F01B-498B-8B64-3A9734A39C72}" type="datetimeFigureOut">
              <a:rPr lang="hu-HU" smtClean="0"/>
              <a:t>2023. 11. 22.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7E35DB4-42E9-448F-B3D5-797777E2310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8035379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Összehasonlít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B4B2C5E-F01B-498B-8B64-3A9734A39C72}" type="datetimeFigureOut">
              <a:rPr lang="hu-HU" smtClean="0"/>
              <a:t>2023. 11. 22.</a:t>
            </a:fld>
            <a:endParaRPr lang="hu-H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hu-H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7E35DB4-42E9-448F-B3D5-797777E2310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3172551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sak cí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B4B2C5E-F01B-498B-8B64-3A9734A39C72}" type="datetimeFigureOut">
              <a:rPr lang="hu-HU" smtClean="0"/>
              <a:t>2023. 11. 22.</a:t>
            </a:fld>
            <a:endParaRPr lang="hu-H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hu-H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7E35DB4-42E9-448F-B3D5-797777E2310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5114771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Ü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B4B2C5E-F01B-498B-8B64-3A9734A39C72}" type="datetimeFigureOut">
              <a:rPr lang="hu-HU" smtClean="0"/>
              <a:t>2023. 11. 22.</a:t>
            </a:fld>
            <a:endParaRPr lang="hu-H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hu-H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7E35DB4-42E9-448F-B3D5-797777E2310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4462319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artalomrész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B4B2C5E-F01B-498B-8B64-3A9734A39C72}" type="datetimeFigureOut">
              <a:rPr lang="hu-HU" smtClean="0"/>
              <a:t>2023. 11. 22.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7E35DB4-42E9-448F-B3D5-797777E2310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2851383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hu-HU"/>
              <a:t>Kép beszúrásához kattintson az ikonra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B4B2C5E-F01B-498B-8B64-3A9734A39C72}" type="datetimeFigureOut">
              <a:rPr lang="hu-HU" smtClean="0"/>
              <a:t>2023. 11. 22.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7E35DB4-42E9-448F-B3D5-797777E2310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958605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Cím és függőlege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8954" y="926856"/>
            <a:ext cx="11934092" cy="5802190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B4B2C5E-F01B-498B-8B64-3A9734A39C72}" type="datetimeFigureOut">
              <a:rPr lang="hu-HU" smtClean="0"/>
              <a:t>2023. 11. 22.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7E35DB4-42E9-448F-B3D5-797777E2310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8912653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üggőleges cím é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B4B2C5E-F01B-498B-8B64-3A9734A39C72}" type="datetimeFigureOut">
              <a:rPr lang="hu-HU" smtClean="0"/>
              <a:t>2023. 11. 22.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7E35DB4-42E9-448F-B3D5-797777E2310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7224819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FF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8954" y="185372"/>
            <a:ext cx="11934092" cy="43986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hu-HU" dirty="0"/>
              <a:t>Mintacím szerkesztése</a:t>
            </a:r>
            <a:endParaRPr lang="en-US" dirty="0"/>
          </a:p>
        </p:txBody>
      </p:sp>
      <p:sp>
        <p:nvSpPr>
          <p:cNvPr id="3" name="Szöveg helye 2"/>
          <p:cNvSpPr>
            <a:spLocks noGrp="1"/>
          </p:cNvSpPr>
          <p:nvPr>
            <p:ph type="body" idx="1"/>
          </p:nvPr>
        </p:nvSpPr>
        <p:spPr>
          <a:xfrm>
            <a:off x="128954" y="854076"/>
            <a:ext cx="11934092" cy="2010807"/>
          </a:xfrm>
          <a:prstGeom prst="rect">
            <a:avLst/>
          </a:prstGeom>
        </p:spPr>
        <p:txBody>
          <a:bodyPr vert="horz" lIns="91440" tIns="45720" rIns="91440" bIns="45720" rtlCol="0">
            <a:spAutoFit/>
          </a:bodyPr>
          <a:lstStyle/>
          <a:p>
            <a:pPr lvl="0"/>
            <a:r>
              <a:rPr lang="hu-HU" dirty="0"/>
              <a:t>Mintaszöveg szerkesztése</a:t>
            </a:r>
          </a:p>
          <a:p>
            <a:pPr lvl="1"/>
            <a:r>
              <a:rPr lang="hu-HU" dirty="0"/>
              <a:t>Második szint</a:t>
            </a:r>
          </a:p>
          <a:p>
            <a:pPr lvl="2"/>
            <a:r>
              <a:rPr lang="hu-HU" dirty="0"/>
              <a:t>Harmadik szint</a:t>
            </a:r>
          </a:p>
          <a:p>
            <a:pPr lvl="3"/>
            <a:r>
              <a:rPr lang="hu-HU" dirty="0"/>
              <a:t>Negyedik szint</a:t>
            </a:r>
          </a:p>
          <a:p>
            <a:pPr lvl="4"/>
            <a:r>
              <a:rPr lang="hu-HU" dirty="0"/>
              <a:t>Ötödik szint</a:t>
            </a:r>
          </a:p>
        </p:txBody>
      </p:sp>
    </p:spTree>
    <p:extLst>
      <p:ext uri="{BB962C8B-B14F-4D97-AF65-F5344CB8AC3E}">
        <p14:creationId xmlns:p14="http://schemas.microsoft.com/office/powerpoint/2010/main" val="2088399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2800" b="1" kern="1200">
          <a:solidFill>
            <a:schemeClr val="tx1"/>
          </a:solidFill>
          <a:latin typeface="+mn-lt"/>
          <a:ea typeface="Tahoma" panose="020B0604030504040204" pitchFamily="34" charset="0"/>
          <a:cs typeface="Tahoma" panose="020B0604030504040204" pitchFamily="34" charset="0"/>
        </a:defRPr>
      </a:lvl1pPr>
    </p:titleStyle>
    <p:bodyStyle>
      <a:lvl1pPr marL="0" indent="0" algn="just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just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just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just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just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FF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zövegdoboz 1"/>
          <p:cNvSpPr txBox="1"/>
          <p:nvPr/>
        </p:nvSpPr>
        <p:spPr>
          <a:xfrm>
            <a:off x="171450" y="1659547"/>
            <a:ext cx="1191064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hu-HU" sz="3600" b="1" dirty="0"/>
              <a:t>Programozási tételek</a:t>
            </a:r>
          </a:p>
        </p:txBody>
      </p:sp>
    </p:spTree>
    <p:extLst>
      <p:ext uri="{BB962C8B-B14F-4D97-AF65-F5344CB8AC3E}">
        <p14:creationId xmlns:p14="http://schemas.microsoft.com/office/powerpoint/2010/main" val="12726812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Programozási tételek fogalma, szerepe</a:t>
            </a:r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>
          <a:xfrm>
            <a:off x="128954" y="926856"/>
            <a:ext cx="11934092" cy="4066947"/>
          </a:xfrm>
        </p:spPr>
        <p:txBody>
          <a:bodyPr/>
          <a:lstStyle/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hu-HU" dirty="0"/>
              <a:t>A programozási tételek olyan általános algoritmusok, melyekkel programozás során gyakran találkozunk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hu-HU" dirty="0"/>
              <a:t>Az algoritmusok általában számsorozatokkal, tömbökkel foglalkoznak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hu-HU" dirty="0"/>
              <a:t>Az eredmény lehet egy vagy több sorozat valamint érték is.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6996380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Összegzés</a:t>
            </a:r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>
          <a:xfrm>
            <a:off x="128954" y="926856"/>
            <a:ext cx="11934092" cy="885371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hu-HU" dirty="0"/>
              <a:t>Egy „n” elemű sorozat (tömb) minden elemének összegét, szorzatát …stb.-t kell előállítani.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hu-HU" dirty="0"/>
              <a:t>Pl.: faktoriális számítás, az első „n” </a:t>
            </a:r>
            <a:r>
              <a:rPr lang="hu-HU"/>
              <a:t>szám szorzata.</a:t>
            </a:r>
            <a:endParaRPr lang="hu-HU" dirty="0"/>
          </a:p>
        </p:txBody>
      </p:sp>
      <p:sp>
        <p:nvSpPr>
          <p:cNvPr id="4" name="Szövegdoboz 3"/>
          <p:cNvSpPr txBox="1"/>
          <p:nvPr/>
        </p:nvSpPr>
        <p:spPr>
          <a:xfrm>
            <a:off x="576629" y="2113850"/>
            <a:ext cx="4849446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hu-HU" u="sng" dirty="0"/>
              <a:t>Mondatszerű leírással:</a:t>
            </a:r>
            <a:endParaRPr lang="hu-HU" u="sng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>
              <a:lnSpc>
                <a:spcPct val="150000"/>
              </a:lnSpc>
            </a:pPr>
            <a:r>
              <a:rPr lang="hu-HU" b="1" dirty="0">
                <a:latin typeface="Courier New" panose="02070309020205020404" pitchFamily="49" charset="0"/>
                <a:cs typeface="Courier New" panose="02070309020205020404" pitchFamily="49" charset="0"/>
              </a:rPr>
              <a:t>s := 0</a:t>
            </a:r>
          </a:p>
          <a:p>
            <a:pPr lvl="1">
              <a:lnSpc>
                <a:spcPct val="150000"/>
              </a:lnSpc>
            </a:pPr>
            <a:r>
              <a:rPr lang="hu-HU" b="1" dirty="0">
                <a:latin typeface="Courier New" panose="02070309020205020404" pitchFamily="49" charset="0"/>
                <a:cs typeface="Courier New" panose="02070309020205020404" pitchFamily="49" charset="0"/>
              </a:rPr>
              <a:t>Ciklus i:=1-től n-ig 1-esével</a:t>
            </a:r>
          </a:p>
          <a:p>
            <a:pPr lvl="1">
              <a:lnSpc>
                <a:spcPct val="150000"/>
              </a:lnSpc>
            </a:pPr>
            <a:r>
              <a:rPr lang="hu-HU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s := </a:t>
            </a:r>
            <a:r>
              <a:rPr lang="hu-HU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</a:t>
            </a:r>
            <a:r>
              <a:rPr lang="hu-HU" b="1" dirty="0">
                <a:latin typeface="Courier New" panose="02070309020205020404" pitchFamily="49" charset="0"/>
                <a:cs typeface="Courier New" panose="02070309020205020404" pitchFamily="49" charset="0"/>
              </a:rPr>
              <a:t> + T[i]</a:t>
            </a:r>
          </a:p>
          <a:p>
            <a:pPr lvl="1">
              <a:lnSpc>
                <a:spcPct val="150000"/>
              </a:lnSpc>
            </a:pPr>
            <a:r>
              <a:rPr lang="hu-HU" b="1" dirty="0">
                <a:latin typeface="Courier New" panose="02070309020205020404" pitchFamily="49" charset="0"/>
                <a:cs typeface="Courier New" panose="02070309020205020404" pitchFamily="49" charset="0"/>
              </a:rPr>
              <a:t>Ciklus vége</a:t>
            </a:r>
          </a:p>
          <a:p>
            <a:pPr lvl="1">
              <a:lnSpc>
                <a:spcPct val="150000"/>
              </a:lnSpc>
            </a:pPr>
            <a:r>
              <a:rPr lang="hu-HU" b="1" dirty="0">
                <a:latin typeface="Courier New" panose="02070309020205020404" pitchFamily="49" charset="0"/>
                <a:cs typeface="Courier New" panose="02070309020205020404" pitchFamily="49" charset="0"/>
              </a:rPr>
              <a:t>Ki: s</a:t>
            </a:r>
          </a:p>
        </p:txBody>
      </p:sp>
      <p:sp>
        <p:nvSpPr>
          <p:cNvPr id="5" name="Szövegdoboz 4"/>
          <p:cNvSpPr txBox="1"/>
          <p:nvPr/>
        </p:nvSpPr>
        <p:spPr>
          <a:xfrm>
            <a:off x="5881810" y="2113849"/>
            <a:ext cx="5843465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hu-HU" u="sng" dirty="0"/>
              <a:t>Faktoriális számítás Python nyelven</a:t>
            </a:r>
            <a:endParaRPr lang="hu-HU" u="sng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>
              <a:lnSpc>
                <a:spcPts val="2550"/>
              </a:lnSpc>
            </a:pPr>
            <a:r>
              <a:rPr lang="hu-HU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n = </a:t>
            </a:r>
            <a:r>
              <a:rPr lang="hu-HU" dirty="0">
                <a:solidFill>
                  <a:srgbClr val="098658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10</a:t>
            </a:r>
            <a:endParaRPr lang="hu-HU" sz="105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1">
              <a:lnSpc>
                <a:spcPts val="2550"/>
              </a:lnSpc>
            </a:pPr>
            <a:r>
              <a:rPr lang="hu-HU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f = </a:t>
            </a:r>
            <a:r>
              <a:rPr lang="hu-HU" dirty="0">
                <a:solidFill>
                  <a:srgbClr val="098658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hu-HU" sz="105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1">
              <a:lnSpc>
                <a:spcPts val="2550"/>
              </a:lnSpc>
            </a:pPr>
            <a:r>
              <a:rPr lang="hu-HU" dirty="0" err="1">
                <a:solidFill>
                  <a:srgbClr val="0000FF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for</a:t>
            </a:r>
            <a:r>
              <a:rPr lang="hu-HU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i </a:t>
            </a:r>
            <a:r>
              <a:rPr lang="hu-HU" dirty="0">
                <a:solidFill>
                  <a:srgbClr val="0000FF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</a:t>
            </a:r>
            <a:r>
              <a:rPr lang="hu-HU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hu-HU" dirty="0" err="1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range</a:t>
            </a:r>
            <a:r>
              <a:rPr lang="hu-HU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hu-HU" dirty="0">
                <a:solidFill>
                  <a:srgbClr val="098658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hu-HU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n + </a:t>
            </a:r>
            <a:r>
              <a:rPr lang="hu-HU" dirty="0">
                <a:solidFill>
                  <a:srgbClr val="098658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hu-HU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):</a:t>
            </a:r>
            <a:endParaRPr lang="hu-HU" sz="105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1">
              <a:lnSpc>
                <a:spcPts val="2550"/>
              </a:lnSpc>
            </a:pPr>
            <a:r>
              <a:rPr lang="hu-HU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   f = f * i</a:t>
            </a:r>
            <a:endParaRPr lang="hu-HU" sz="105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1">
              <a:lnSpc>
                <a:spcPts val="2550"/>
              </a:lnSpc>
            </a:pPr>
            <a:r>
              <a:rPr lang="hu-HU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print(</a:t>
            </a:r>
            <a:r>
              <a:rPr lang="hu-HU" dirty="0">
                <a:solidFill>
                  <a:srgbClr val="0000FF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hu-HU" dirty="0">
                <a:solidFill>
                  <a:srgbClr val="A31515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</a:t>
            </a:r>
            <a:r>
              <a:rPr lang="hu-HU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{n}</a:t>
            </a:r>
            <a:r>
              <a:rPr lang="hu-HU" dirty="0">
                <a:solidFill>
                  <a:srgbClr val="A31515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! = </a:t>
            </a:r>
            <a:r>
              <a:rPr lang="hu-HU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{f}</a:t>
            </a:r>
            <a:r>
              <a:rPr lang="hu-HU" dirty="0">
                <a:solidFill>
                  <a:srgbClr val="A31515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</a:t>
            </a:r>
            <a:r>
              <a:rPr lang="hu-HU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hu-HU" sz="105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</a:pPr>
            <a:endParaRPr lang="hu-HU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696028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Eldöntés</a:t>
            </a:r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>
          <a:xfrm>
            <a:off x="128954" y="926856"/>
            <a:ext cx="11934092" cy="1550168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hu-HU" dirty="0"/>
              <a:t>Annak eldöntése, hogy egy „n” elemű sorozat (tömb) elemi között van-e olyan, ami megfelel a megadott (F) feltételnek.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hu-HU" dirty="0"/>
              <a:t>Pl.: a tömb elemei között van-e negatív, a tanuló érdemjegyei alapján annak eldöntése, hogy kitűnő-e.</a:t>
            </a:r>
          </a:p>
        </p:txBody>
      </p:sp>
      <p:sp>
        <p:nvSpPr>
          <p:cNvPr id="4" name="Szövegdoboz 3"/>
          <p:cNvSpPr txBox="1"/>
          <p:nvPr/>
        </p:nvSpPr>
        <p:spPr>
          <a:xfrm>
            <a:off x="128954" y="2778648"/>
            <a:ext cx="9148396" cy="30008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hu-HU" u="sng" dirty="0"/>
              <a:t>Mondatszerű leírással:</a:t>
            </a:r>
            <a:endParaRPr lang="hu-HU" u="sng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>
              <a:lnSpc>
                <a:spcPct val="150000"/>
              </a:lnSpc>
            </a:pPr>
            <a:r>
              <a:rPr lang="hu-HU" b="1" dirty="0">
                <a:latin typeface="Courier New" panose="02070309020205020404" pitchFamily="49" charset="0"/>
                <a:cs typeface="Courier New" panose="02070309020205020404" pitchFamily="49" charset="0"/>
              </a:rPr>
              <a:t>i := 1;</a:t>
            </a:r>
          </a:p>
          <a:p>
            <a:pPr lvl="1">
              <a:lnSpc>
                <a:spcPct val="150000"/>
              </a:lnSpc>
            </a:pPr>
            <a:r>
              <a:rPr lang="hu-HU" b="1" dirty="0">
                <a:latin typeface="Courier New" panose="02070309020205020404" pitchFamily="49" charset="0"/>
                <a:cs typeface="Courier New" panose="02070309020205020404" pitchFamily="49" charset="0"/>
              </a:rPr>
              <a:t>Ciklus amíg i &lt;= N és ( T[i] nem felel meg F feltételnek )</a:t>
            </a:r>
          </a:p>
          <a:p>
            <a:pPr lvl="1">
              <a:lnSpc>
                <a:spcPct val="150000"/>
              </a:lnSpc>
            </a:pPr>
            <a:r>
              <a:rPr lang="hu-HU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i := </a:t>
            </a:r>
            <a:r>
              <a:rPr lang="hu-HU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hu-HU" b="1" dirty="0">
                <a:latin typeface="Courier New" panose="02070309020205020404" pitchFamily="49" charset="0"/>
                <a:cs typeface="Courier New" panose="02070309020205020404" pitchFamily="49" charset="0"/>
              </a:rPr>
              <a:t> + 1</a:t>
            </a:r>
          </a:p>
          <a:p>
            <a:pPr lvl="1">
              <a:lnSpc>
                <a:spcPct val="150000"/>
              </a:lnSpc>
            </a:pPr>
            <a:r>
              <a:rPr lang="hu-HU" b="1" dirty="0">
                <a:latin typeface="Courier New" panose="02070309020205020404" pitchFamily="49" charset="0"/>
                <a:cs typeface="Courier New" panose="02070309020205020404" pitchFamily="49" charset="0"/>
              </a:rPr>
              <a:t>Ciklus vége</a:t>
            </a:r>
          </a:p>
          <a:p>
            <a:pPr lvl="1">
              <a:lnSpc>
                <a:spcPct val="150000"/>
              </a:lnSpc>
            </a:pPr>
            <a:r>
              <a:rPr lang="hu-HU" b="1" dirty="0">
                <a:latin typeface="Courier New" panose="02070309020205020404" pitchFamily="49" charset="0"/>
                <a:cs typeface="Courier New" panose="02070309020205020404" pitchFamily="49" charset="0"/>
              </a:rPr>
              <a:t>van := (i &lt;= N)</a:t>
            </a:r>
          </a:p>
          <a:p>
            <a:pPr lvl="1">
              <a:lnSpc>
                <a:spcPct val="150000"/>
              </a:lnSpc>
            </a:pPr>
            <a:r>
              <a:rPr lang="hu-HU" b="1" dirty="0">
                <a:latin typeface="Courier New" panose="02070309020205020404" pitchFamily="49" charset="0"/>
                <a:cs typeface="Courier New" panose="02070309020205020404" pitchFamily="49" charset="0"/>
              </a:rPr>
              <a:t>Ki: van</a:t>
            </a:r>
          </a:p>
        </p:txBody>
      </p:sp>
    </p:spTree>
    <p:extLst>
      <p:ext uri="{BB962C8B-B14F-4D97-AF65-F5344CB8AC3E}">
        <p14:creationId xmlns:p14="http://schemas.microsoft.com/office/powerpoint/2010/main" val="10813868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Eldöntés</a:t>
            </a:r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>
          <a:xfrm>
            <a:off x="128954" y="793506"/>
            <a:ext cx="11934092" cy="5891036"/>
          </a:xfrm>
        </p:spPr>
        <p:txBody>
          <a:bodyPr/>
          <a:lstStyle/>
          <a:p>
            <a:pPr lvl="0" algn="l">
              <a:lnSpc>
                <a:spcPct val="150000"/>
              </a:lnSpc>
              <a:spcBef>
                <a:spcPts val="0"/>
              </a:spcBef>
            </a:pPr>
            <a:r>
              <a:rPr lang="hu-HU" sz="1800" u="sng" dirty="0">
                <a:solidFill>
                  <a:prstClr val="black"/>
                </a:solidFill>
              </a:rPr>
              <a:t>Annak eldöntése, hogy egy 20 elemű tömb elemei között van-e negatív szám, </a:t>
            </a:r>
            <a:r>
              <a:rPr lang="hu-HU" sz="1800" u="sng" dirty="0" err="1">
                <a:solidFill>
                  <a:prstClr val="black"/>
                </a:solidFill>
              </a:rPr>
              <a:t>python</a:t>
            </a:r>
            <a:r>
              <a:rPr lang="hu-HU" sz="1800" u="sng" dirty="0">
                <a:solidFill>
                  <a:prstClr val="black"/>
                </a:solidFill>
              </a:rPr>
              <a:t> nyelven</a:t>
            </a:r>
          </a:p>
          <a:p>
            <a:pPr marL="457200" lvl="1" indent="0">
              <a:buNone/>
            </a:pPr>
            <a:r>
              <a:rPr lang="hu-HU" sz="1800" dirty="0">
                <a:solidFill>
                  <a:srgbClr val="008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# lista deklarálása és feltöltése véletlen számokkal</a:t>
            </a:r>
          </a:p>
          <a:p>
            <a:pPr marL="457200" lvl="1" indent="0">
              <a:buNone/>
            </a:pPr>
            <a:r>
              <a:rPr lang="hu-HU" sz="1800" dirty="0">
                <a:solidFill>
                  <a:srgbClr val="0000FF"/>
                </a:solidFill>
                <a:latin typeface="Consolas" panose="020B0609020204030204" pitchFamily="49" charset="0"/>
              </a:rPr>
              <a:t>import</a:t>
            </a:r>
            <a:r>
              <a:rPr lang="hu-HU" sz="1800" dirty="0">
                <a:solidFill>
                  <a:srgbClr val="000000"/>
                </a:solidFill>
                <a:latin typeface="Consolas" panose="020B0609020204030204" pitchFamily="49" charset="0"/>
              </a:rPr>
              <a:t> random</a:t>
            </a:r>
          </a:p>
          <a:p>
            <a:pPr marL="457200" lvl="1" indent="0">
              <a:buNone/>
            </a:pPr>
            <a:br>
              <a:rPr lang="hu-HU" sz="18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hu-HU" sz="1800" dirty="0">
                <a:solidFill>
                  <a:srgbClr val="000000"/>
                </a:solidFill>
                <a:latin typeface="Consolas" panose="020B0609020204030204" pitchFamily="49" charset="0"/>
              </a:rPr>
              <a:t>T = []</a:t>
            </a:r>
          </a:p>
          <a:p>
            <a:pPr marL="457200" lvl="1" indent="0">
              <a:buNone/>
            </a:pPr>
            <a:r>
              <a:rPr lang="hu-HU" sz="1800" dirty="0" err="1">
                <a:solidFill>
                  <a:srgbClr val="0000FF"/>
                </a:solidFill>
                <a:latin typeface="Consolas" panose="020B0609020204030204" pitchFamily="49" charset="0"/>
              </a:rPr>
              <a:t>for</a:t>
            </a:r>
            <a:r>
              <a:rPr lang="hu-HU" sz="1800" dirty="0">
                <a:solidFill>
                  <a:srgbClr val="000000"/>
                </a:solidFill>
                <a:latin typeface="Consolas" panose="020B0609020204030204" pitchFamily="49" charset="0"/>
              </a:rPr>
              <a:t> i </a:t>
            </a:r>
            <a:r>
              <a:rPr lang="hu-HU" sz="1800" dirty="0">
                <a:solidFill>
                  <a:srgbClr val="0000FF"/>
                </a:solidFill>
                <a:latin typeface="Consolas" panose="020B0609020204030204" pitchFamily="49" charset="0"/>
              </a:rPr>
              <a:t>in</a:t>
            </a:r>
            <a:r>
              <a:rPr lang="hu-HU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hu-HU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range</a:t>
            </a:r>
            <a:r>
              <a:rPr lang="hu-HU" sz="18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hu-HU" sz="1800" dirty="0">
                <a:solidFill>
                  <a:srgbClr val="098658"/>
                </a:solidFill>
                <a:latin typeface="Consolas" panose="020B0609020204030204" pitchFamily="49" charset="0"/>
              </a:rPr>
              <a:t>20</a:t>
            </a:r>
            <a:r>
              <a:rPr lang="hu-HU" sz="1800" dirty="0">
                <a:solidFill>
                  <a:srgbClr val="000000"/>
                </a:solidFill>
                <a:latin typeface="Consolas" panose="020B0609020204030204" pitchFamily="49" charset="0"/>
              </a:rPr>
              <a:t>):</a:t>
            </a:r>
          </a:p>
          <a:p>
            <a:pPr marL="457200" lvl="1" indent="0">
              <a:buNone/>
            </a:pPr>
            <a:r>
              <a:rPr lang="hu-HU" sz="18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hu-HU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T.append</a:t>
            </a:r>
            <a:r>
              <a:rPr lang="hu-HU" sz="18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hu-HU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random.randint</a:t>
            </a:r>
            <a:r>
              <a:rPr lang="hu-HU" sz="1800" dirty="0">
                <a:solidFill>
                  <a:srgbClr val="000000"/>
                </a:solidFill>
                <a:latin typeface="Consolas" panose="020B0609020204030204" pitchFamily="49" charset="0"/>
              </a:rPr>
              <a:t>(-</a:t>
            </a:r>
            <a:r>
              <a:rPr lang="hu-HU" sz="1800" dirty="0">
                <a:solidFill>
                  <a:srgbClr val="098658"/>
                </a:solidFill>
                <a:latin typeface="Consolas" panose="020B0609020204030204" pitchFamily="49" charset="0"/>
              </a:rPr>
              <a:t>2</a:t>
            </a:r>
            <a:r>
              <a:rPr lang="hu-HU" sz="18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hu-HU" sz="1800" dirty="0">
                <a:solidFill>
                  <a:srgbClr val="098658"/>
                </a:solidFill>
                <a:latin typeface="Consolas" panose="020B0609020204030204" pitchFamily="49" charset="0"/>
              </a:rPr>
              <a:t>100</a:t>
            </a:r>
            <a:r>
              <a:rPr lang="hu-HU" sz="1800" dirty="0">
                <a:solidFill>
                  <a:srgbClr val="000000"/>
                </a:solidFill>
                <a:latin typeface="Consolas" panose="020B0609020204030204" pitchFamily="49" charset="0"/>
              </a:rPr>
              <a:t>))</a:t>
            </a:r>
          </a:p>
          <a:p>
            <a:pPr marL="457200" lvl="1" indent="0">
              <a:buNone/>
            </a:pPr>
            <a:r>
              <a:rPr lang="hu-HU" sz="1800" dirty="0">
                <a:solidFill>
                  <a:srgbClr val="000000"/>
                </a:solidFill>
                <a:latin typeface="Consolas" panose="020B0609020204030204" pitchFamily="49" charset="0"/>
              </a:rPr>
              <a:t>print(T)</a:t>
            </a:r>
          </a:p>
          <a:p>
            <a:pPr marL="457200" lvl="1" indent="0">
              <a:buNone/>
            </a:pPr>
            <a:br>
              <a:rPr lang="hu-HU" sz="18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hu-HU" sz="1800" dirty="0">
                <a:solidFill>
                  <a:srgbClr val="008000"/>
                </a:solidFill>
                <a:latin typeface="Consolas" panose="020B0609020204030204" pitchFamily="49" charset="0"/>
              </a:rPr>
              <a:t>#eldöntés</a:t>
            </a:r>
            <a:endParaRPr lang="hu-HU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457200" lvl="1" indent="0">
              <a:buNone/>
            </a:pPr>
            <a:r>
              <a:rPr lang="hu-HU" sz="1800" dirty="0">
                <a:solidFill>
                  <a:srgbClr val="000000"/>
                </a:solidFill>
                <a:latin typeface="Consolas" panose="020B0609020204030204" pitchFamily="49" charset="0"/>
              </a:rPr>
              <a:t>i = </a:t>
            </a:r>
            <a:r>
              <a:rPr lang="hu-HU" sz="1800" dirty="0">
                <a:solidFill>
                  <a:srgbClr val="098658"/>
                </a:solidFill>
                <a:latin typeface="Consolas" panose="020B0609020204030204" pitchFamily="49" charset="0"/>
              </a:rPr>
              <a:t>0</a:t>
            </a:r>
            <a:endParaRPr lang="hu-HU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457200" lvl="1" indent="0">
              <a:buNone/>
            </a:pPr>
            <a:r>
              <a:rPr lang="hu-HU" sz="1800" dirty="0" err="1">
                <a:solidFill>
                  <a:srgbClr val="0000FF"/>
                </a:solidFill>
                <a:latin typeface="Consolas" panose="020B0609020204030204" pitchFamily="49" charset="0"/>
              </a:rPr>
              <a:t>while</a:t>
            </a:r>
            <a:r>
              <a:rPr lang="hu-HU" sz="1800" dirty="0">
                <a:solidFill>
                  <a:srgbClr val="000000"/>
                </a:solidFill>
                <a:latin typeface="Consolas" panose="020B0609020204030204" pitchFamily="49" charset="0"/>
              </a:rPr>
              <a:t> i &lt; </a:t>
            </a:r>
            <a:r>
              <a:rPr lang="hu-HU" sz="1800" dirty="0">
                <a:solidFill>
                  <a:srgbClr val="098658"/>
                </a:solidFill>
                <a:latin typeface="Consolas" panose="020B0609020204030204" pitchFamily="49" charset="0"/>
              </a:rPr>
              <a:t>20</a:t>
            </a:r>
            <a:r>
              <a:rPr lang="hu-HU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hu-HU" sz="1800" dirty="0">
                <a:solidFill>
                  <a:srgbClr val="0000FF"/>
                </a:solidFill>
                <a:latin typeface="Consolas" panose="020B0609020204030204" pitchFamily="49" charset="0"/>
              </a:rPr>
              <a:t>and</a:t>
            </a:r>
            <a:r>
              <a:rPr lang="hu-HU" sz="1800" dirty="0">
                <a:solidFill>
                  <a:srgbClr val="000000"/>
                </a:solidFill>
                <a:latin typeface="Consolas" panose="020B0609020204030204" pitchFamily="49" charset="0"/>
              </a:rPr>
              <a:t> T[i] &gt;= </a:t>
            </a:r>
            <a:r>
              <a:rPr lang="hu-HU" sz="1800" dirty="0">
                <a:solidFill>
                  <a:srgbClr val="098658"/>
                </a:solidFill>
                <a:latin typeface="Consolas" panose="020B0609020204030204" pitchFamily="49" charset="0"/>
              </a:rPr>
              <a:t>0</a:t>
            </a:r>
            <a:r>
              <a:rPr lang="hu-HU" sz="1800" dirty="0">
                <a:solidFill>
                  <a:srgbClr val="000000"/>
                </a:solidFill>
                <a:latin typeface="Consolas" panose="020B0609020204030204" pitchFamily="49" charset="0"/>
              </a:rPr>
              <a:t>:</a:t>
            </a:r>
          </a:p>
          <a:p>
            <a:pPr marL="457200" lvl="1" indent="0">
              <a:buNone/>
            </a:pPr>
            <a:r>
              <a:rPr lang="hu-HU" sz="1800" dirty="0">
                <a:solidFill>
                  <a:srgbClr val="000000"/>
                </a:solidFill>
                <a:latin typeface="Consolas" panose="020B0609020204030204" pitchFamily="49" charset="0"/>
              </a:rPr>
              <a:t>    i += </a:t>
            </a:r>
            <a:r>
              <a:rPr lang="hu-HU" sz="1800" dirty="0">
                <a:solidFill>
                  <a:srgbClr val="098658"/>
                </a:solidFill>
                <a:latin typeface="Consolas" panose="020B0609020204030204" pitchFamily="49" charset="0"/>
              </a:rPr>
              <a:t>1</a:t>
            </a:r>
            <a:endParaRPr lang="hu-HU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457200" lvl="1" indent="0">
              <a:buNone/>
            </a:pPr>
            <a:r>
              <a:rPr lang="hu-HU" sz="1800" dirty="0" err="1">
                <a:solidFill>
                  <a:srgbClr val="0000FF"/>
                </a:solidFill>
                <a:latin typeface="Consolas" panose="020B0609020204030204" pitchFamily="49" charset="0"/>
              </a:rPr>
              <a:t>if</a:t>
            </a:r>
            <a:r>
              <a:rPr lang="hu-HU" sz="1800" dirty="0">
                <a:solidFill>
                  <a:srgbClr val="000000"/>
                </a:solidFill>
                <a:latin typeface="Consolas" panose="020B0609020204030204" pitchFamily="49" charset="0"/>
              </a:rPr>
              <a:t> i &lt; </a:t>
            </a:r>
            <a:r>
              <a:rPr lang="hu-HU" sz="1800" dirty="0">
                <a:solidFill>
                  <a:srgbClr val="098658"/>
                </a:solidFill>
                <a:latin typeface="Consolas" panose="020B0609020204030204" pitchFamily="49" charset="0"/>
              </a:rPr>
              <a:t>20</a:t>
            </a:r>
            <a:r>
              <a:rPr lang="hu-HU" sz="1800" dirty="0">
                <a:solidFill>
                  <a:srgbClr val="000000"/>
                </a:solidFill>
                <a:latin typeface="Consolas" panose="020B0609020204030204" pitchFamily="49" charset="0"/>
              </a:rPr>
              <a:t>:</a:t>
            </a:r>
          </a:p>
          <a:p>
            <a:pPr marL="457200" lvl="1" indent="0">
              <a:buNone/>
            </a:pPr>
            <a:r>
              <a:rPr lang="hu-HU" sz="1800" dirty="0">
                <a:solidFill>
                  <a:srgbClr val="000000"/>
                </a:solidFill>
                <a:latin typeface="Consolas" panose="020B0609020204030204" pitchFamily="49" charset="0"/>
              </a:rPr>
              <a:t>    print(</a:t>
            </a:r>
            <a:r>
              <a:rPr lang="hu-HU" sz="1800" dirty="0">
                <a:solidFill>
                  <a:srgbClr val="A31515"/>
                </a:solidFill>
                <a:latin typeface="Consolas" panose="020B0609020204030204" pitchFamily="49" charset="0"/>
              </a:rPr>
              <a:t>'A listában van negatív szám'</a:t>
            </a:r>
            <a:r>
              <a:rPr lang="hu-HU" sz="18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pPr marL="457200" lvl="1" indent="0">
              <a:buNone/>
            </a:pPr>
            <a:r>
              <a:rPr lang="hu-HU" sz="1800" dirty="0" err="1">
                <a:solidFill>
                  <a:srgbClr val="0000FF"/>
                </a:solidFill>
                <a:latin typeface="Consolas" panose="020B0609020204030204" pitchFamily="49" charset="0"/>
              </a:rPr>
              <a:t>else</a:t>
            </a:r>
            <a:r>
              <a:rPr lang="hu-HU" sz="1800" dirty="0">
                <a:solidFill>
                  <a:srgbClr val="000000"/>
                </a:solidFill>
                <a:latin typeface="Consolas" panose="020B0609020204030204" pitchFamily="49" charset="0"/>
              </a:rPr>
              <a:t>:</a:t>
            </a:r>
          </a:p>
          <a:p>
            <a:pPr marL="457200" lvl="1" indent="0">
              <a:buNone/>
            </a:pPr>
            <a:r>
              <a:rPr lang="hu-HU" sz="1800" dirty="0">
                <a:solidFill>
                  <a:srgbClr val="000000"/>
                </a:solidFill>
                <a:latin typeface="Consolas" panose="020B0609020204030204" pitchFamily="49" charset="0"/>
              </a:rPr>
              <a:t>    print(</a:t>
            </a:r>
            <a:r>
              <a:rPr lang="hu-HU" sz="1800" dirty="0">
                <a:solidFill>
                  <a:srgbClr val="A31515"/>
                </a:solidFill>
                <a:latin typeface="Consolas" panose="020B0609020204030204" pitchFamily="49" charset="0"/>
              </a:rPr>
              <a:t>'A listában nincs negatív szám'</a:t>
            </a:r>
            <a:r>
              <a:rPr lang="hu-HU" sz="18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  <a:endParaRPr lang="hu-HU" sz="2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457200" lvl="1" indent="0" algn="l">
              <a:lnSpc>
                <a:spcPct val="150000"/>
              </a:lnSpc>
              <a:spcBef>
                <a:spcPts val="0"/>
              </a:spcBef>
              <a:buNone/>
            </a:pPr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39698397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Megszámlálás</a:t>
            </a:r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>
          <a:xfrm>
            <a:off x="128954" y="926856"/>
            <a:ext cx="11934092" cy="885371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hu-HU" dirty="0"/>
              <a:t>Egy „n” elemű sorozat (tömb) adott (F) feltételnek megfelelő elemeinek megszámolása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hu-HU" dirty="0"/>
              <a:t>Pl.: egy tömbben hány negatív elem van, vagy hány ötös dolgozat született</a:t>
            </a:r>
          </a:p>
        </p:txBody>
      </p:sp>
      <p:sp>
        <p:nvSpPr>
          <p:cNvPr id="4" name="Szövegdoboz 3"/>
          <p:cNvSpPr txBox="1"/>
          <p:nvPr/>
        </p:nvSpPr>
        <p:spPr>
          <a:xfrm>
            <a:off x="128954" y="2113851"/>
            <a:ext cx="5433646" cy="30008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hu-HU" u="sng" dirty="0"/>
              <a:t>Mondatszerű leírással:</a:t>
            </a:r>
            <a:endParaRPr lang="hu-HU" u="sng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>
              <a:lnSpc>
                <a:spcPct val="150000"/>
              </a:lnSpc>
            </a:pPr>
            <a:r>
              <a:rPr lang="hu-HU" b="1" dirty="0">
                <a:latin typeface="Courier New" panose="02070309020205020404" pitchFamily="49" charset="0"/>
                <a:cs typeface="Courier New" panose="02070309020205020404" pitchFamily="49" charset="0"/>
              </a:rPr>
              <a:t>db := 0;</a:t>
            </a:r>
          </a:p>
          <a:p>
            <a:pPr lvl="1">
              <a:lnSpc>
                <a:spcPct val="150000"/>
              </a:lnSpc>
            </a:pPr>
            <a:r>
              <a:rPr lang="hu-HU" b="1" dirty="0">
                <a:latin typeface="Courier New" panose="02070309020205020404" pitchFamily="49" charset="0"/>
                <a:cs typeface="Courier New" panose="02070309020205020404" pitchFamily="49" charset="0"/>
              </a:rPr>
              <a:t>Ciklus i:=1-től n-ig 1-esével</a:t>
            </a:r>
          </a:p>
          <a:p>
            <a:pPr lvl="1">
              <a:lnSpc>
                <a:spcPct val="150000"/>
              </a:lnSpc>
            </a:pPr>
            <a:r>
              <a:rPr lang="hu-HU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Ha T[i] megfelel F feltételnek</a:t>
            </a:r>
          </a:p>
          <a:p>
            <a:pPr lvl="1">
              <a:lnSpc>
                <a:spcPct val="150000"/>
              </a:lnSpc>
            </a:pPr>
            <a:r>
              <a:rPr lang="hu-HU" b="1" dirty="0">
                <a:latin typeface="Courier New" panose="02070309020205020404" pitchFamily="49" charset="0"/>
                <a:cs typeface="Courier New" panose="02070309020205020404" pitchFamily="49" charset="0"/>
              </a:rPr>
              <a:t>		akkor db := db + 1</a:t>
            </a:r>
          </a:p>
          <a:p>
            <a:pPr lvl="1">
              <a:lnSpc>
                <a:spcPct val="150000"/>
              </a:lnSpc>
            </a:pPr>
            <a:r>
              <a:rPr lang="hu-HU" b="1" dirty="0">
                <a:latin typeface="Courier New" panose="02070309020205020404" pitchFamily="49" charset="0"/>
                <a:cs typeface="Courier New" panose="02070309020205020404" pitchFamily="49" charset="0"/>
              </a:rPr>
              <a:t>Ciklus vége</a:t>
            </a:r>
          </a:p>
          <a:p>
            <a:pPr lvl="1">
              <a:lnSpc>
                <a:spcPct val="150000"/>
              </a:lnSpc>
            </a:pPr>
            <a:r>
              <a:rPr lang="hu-HU" b="1" dirty="0">
                <a:latin typeface="Courier New" panose="02070309020205020404" pitchFamily="49" charset="0"/>
                <a:cs typeface="Courier New" panose="02070309020205020404" pitchFamily="49" charset="0"/>
              </a:rPr>
              <a:t>Ki: db</a:t>
            </a:r>
          </a:p>
        </p:txBody>
      </p:sp>
    </p:spTree>
    <p:extLst>
      <p:ext uri="{BB962C8B-B14F-4D97-AF65-F5344CB8AC3E}">
        <p14:creationId xmlns:p14="http://schemas.microsoft.com/office/powerpoint/2010/main" val="9150843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Megszámlálás</a:t>
            </a:r>
          </a:p>
        </p:txBody>
      </p:sp>
      <p:sp>
        <p:nvSpPr>
          <p:cNvPr id="4" name="Tartalom helye 2"/>
          <p:cNvSpPr>
            <a:spLocks noGrp="1"/>
          </p:cNvSpPr>
          <p:nvPr>
            <p:ph idx="1"/>
          </p:nvPr>
        </p:nvSpPr>
        <p:spPr>
          <a:xfrm>
            <a:off x="128954" y="793506"/>
            <a:ext cx="11934092" cy="5354286"/>
          </a:xfrm>
        </p:spPr>
        <p:txBody>
          <a:bodyPr/>
          <a:lstStyle/>
          <a:p>
            <a:pPr lvl="0" algn="l">
              <a:lnSpc>
                <a:spcPct val="150000"/>
              </a:lnSpc>
              <a:spcBef>
                <a:spcPts val="0"/>
              </a:spcBef>
            </a:pPr>
            <a:r>
              <a:rPr lang="hu-HU" sz="1800" u="sng" dirty="0">
                <a:solidFill>
                  <a:prstClr val="black"/>
                </a:solidFill>
              </a:rPr>
              <a:t>Hány negatív szám van, egy 100 elemű tömb elemei között, C# nyelven</a:t>
            </a:r>
            <a:endParaRPr lang="hu-HU" sz="1800" u="sng" dirty="0">
              <a:solidFill>
                <a:prstClr val="black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57200" lvl="1" indent="0" algn="l">
              <a:lnSpc>
                <a:spcPct val="150000"/>
              </a:lnSpc>
              <a:spcBef>
                <a:spcPts val="0"/>
              </a:spcBef>
              <a:buNone/>
            </a:pPr>
            <a:r>
              <a:rPr lang="hu-HU" sz="1800" dirty="0">
                <a:solidFill>
                  <a:srgbClr val="008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# lista deklarálása és feltöltése véletlen számokkal</a:t>
            </a:r>
          </a:p>
          <a:p>
            <a:pPr marL="457200" lvl="1" indent="0">
              <a:buNone/>
            </a:pPr>
            <a:r>
              <a:rPr lang="hu-HU" sz="1800" dirty="0">
                <a:solidFill>
                  <a:srgbClr val="0000FF"/>
                </a:solidFill>
                <a:latin typeface="Consolas" panose="020B0609020204030204" pitchFamily="49" charset="0"/>
              </a:rPr>
              <a:t>import</a:t>
            </a:r>
            <a:r>
              <a:rPr lang="hu-HU" sz="1800" dirty="0">
                <a:solidFill>
                  <a:srgbClr val="000000"/>
                </a:solidFill>
                <a:latin typeface="Consolas" panose="020B0609020204030204" pitchFamily="49" charset="0"/>
              </a:rPr>
              <a:t> random</a:t>
            </a:r>
          </a:p>
          <a:p>
            <a:pPr marL="457200" lvl="1" indent="0">
              <a:buNone/>
            </a:pPr>
            <a:br>
              <a:rPr lang="hu-HU" sz="18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hu-HU" sz="1800" dirty="0">
                <a:solidFill>
                  <a:srgbClr val="000000"/>
                </a:solidFill>
                <a:latin typeface="Consolas" panose="020B0609020204030204" pitchFamily="49" charset="0"/>
              </a:rPr>
              <a:t>T = []</a:t>
            </a:r>
          </a:p>
          <a:p>
            <a:pPr marL="457200" lvl="1" indent="0">
              <a:buNone/>
            </a:pPr>
            <a:r>
              <a:rPr lang="hu-HU" sz="1800" dirty="0" err="1">
                <a:solidFill>
                  <a:srgbClr val="0000FF"/>
                </a:solidFill>
                <a:latin typeface="Consolas" panose="020B0609020204030204" pitchFamily="49" charset="0"/>
              </a:rPr>
              <a:t>for</a:t>
            </a:r>
            <a:r>
              <a:rPr lang="hu-HU" sz="1800" dirty="0">
                <a:solidFill>
                  <a:srgbClr val="000000"/>
                </a:solidFill>
                <a:latin typeface="Consolas" panose="020B0609020204030204" pitchFamily="49" charset="0"/>
              </a:rPr>
              <a:t> i </a:t>
            </a:r>
            <a:r>
              <a:rPr lang="hu-HU" sz="1800" dirty="0">
                <a:solidFill>
                  <a:srgbClr val="0000FF"/>
                </a:solidFill>
                <a:latin typeface="Consolas" panose="020B0609020204030204" pitchFamily="49" charset="0"/>
              </a:rPr>
              <a:t>in</a:t>
            </a:r>
            <a:r>
              <a:rPr lang="hu-HU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hu-HU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range</a:t>
            </a:r>
            <a:r>
              <a:rPr lang="hu-HU" sz="18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hu-HU" sz="1800" dirty="0">
                <a:solidFill>
                  <a:srgbClr val="098658"/>
                </a:solidFill>
                <a:latin typeface="Consolas" panose="020B0609020204030204" pitchFamily="49" charset="0"/>
              </a:rPr>
              <a:t>100</a:t>
            </a:r>
            <a:r>
              <a:rPr lang="hu-HU" sz="1800" dirty="0">
                <a:solidFill>
                  <a:srgbClr val="000000"/>
                </a:solidFill>
                <a:latin typeface="Consolas" panose="020B0609020204030204" pitchFamily="49" charset="0"/>
              </a:rPr>
              <a:t>):</a:t>
            </a:r>
          </a:p>
          <a:p>
            <a:pPr marL="457200" lvl="1" indent="0">
              <a:buNone/>
            </a:pPr>
            <a:r>
              <a:rPr lang="hu-HU" sz="18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hu-HU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T.append</a:t>
            </a:r>
            <a:r>
              <a:rPr lang="hu-HU" sz="18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hu-HU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random.randint</a:t>
            </a:r>
            <a:r>
              <a:rPr lang="hu-HU" sz="1800" dirty="0">
                <a:solidFill>
                  <a:srgbClr val="000000"/>
                </a:solidFill>
                <a:latin typeface="Consolas" panose="020B0609020204030204" pitchFamily="49" charset="0"/>
              </a:rPr>
              <a:t>(-</a:t>
            </a:r>
            <a:r>
              <a:rPr lang="hu-HU" sz="1800" dirty="0">
                <a:solidFill>
                  <a:srgbClr val="098658"/>
                </a:solidFill>
                <a:latin typeface="Consolas" panose="020B0609020204030204" pitchFamily="49" charset="0"/>
              </a:rPr>
              <a:t>100</a:t>
            </a:r>
            <a:r>
              <a:rPr lang="hu-HU" sz="18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hu-HU" sz="1800" dirty="0">
                <a:solidFill>
                  <a:srgbClr val="098658"/>
                </a:solidFill>
                <a:latin typeface="Consolas" panose="020B0609020204030204" pitchFamily="49" charset="0"/>
              </a:rPr>
              <a:t>100</a:t>
            </a:r>
            <a:r>
              <a:rPr lang="hu-HU" sz="1800" dirty="0">
                <a:solidFill>
                  <a:srgbClr val="000000"/>
                </a:solidFill>
                <a:latin typeface="Consolas" panose="020B0609020204030204" pitchFamily="49" charset="0"/>
              </a:rPr>
              <a:t>))</a:t>
            </a:r>
          </a:p>
          <a:p>
            <a:pPr marL="457200" lvl="1" indent="0">
              <a:buNone/>
            </a:pPr>
            <a:r>
              <a:rPr lang="hu-HU" sz="1800" dirty="0">
                <a:solidFill>
                  <a:srgbClr val="000000"/>
                </a:solidFill>
                <a:latin typeface="Consolas" panose="020B0609020204030204" pitchFamily="49" charset="0"/>
              </a:rPr>
              <a:t>print(T)</a:t>
            </a:r>
          </a:p>
          <a:p>
            <a:pPr marL="457200" lvl="1" indent="0">
              <a:buNone/>
            </a:pPr>
            <a:br>
              <a:rPr lang="hu-HU" sz="18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hu-HU" sz="1800" dirty="0">
                <a:solidFill>
                  <a:srgbClr val="008000"/>
                </a:solidFill>
                <a:latin typeface="Consolas" panose="020B0609020204030204" pitchFamily="49" charset="0"/>
              </a:rPr>
              <a:t># Megszámlálás</a:t>
            </a:r>
            <a:endParaRPr lang="hu-HU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457200" lvl="1" indent="0">
              <a:buNone/>
            </a:pPr>
            <a:r>
              <a:rPr lang="hu-HU" sz="1800" dirty="0">
                <a:solidFill>
                  <a:srgbClr val="000000"/>
                </a:solidFill>
                <a:latin typeface="Consolas" panose="020B0609020204030204" pitchFamily="49" charset="0"/>
              </a:rPr>
              <a:t>db = </a:t>
            </a:r>
            <a:r>
              <a:rPr lang="hu-HU" sz="1800" dirty="0">
                <a:solidFill>
                  <a:srgbClr val="098658"/>
                </a:solidFill>
                <a:latin typeface="Consolas" panose="020B0609020204030204" pitchFamily="49" charset="0"/>
              </a:rPr>
              <a:t>0</a:t>
            </a:r>
            <a:endParaRPr lang="hu-HU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457200" lvl="1" indent="0">
              <a:buNone/>
            </a:pPr>
            <a:r>
              <a:rPr lang="hu-HU" sz="1800" dirty="0" err="1">
                <a:solidFill>
                  <a:srgbClr val="0000FF"/>
                </a:solidFill>
                <a:latin typeface="Consolas" panose="020B0609020204030204" pitchFamily="49" charset="0"/>
              </a:rPr>
              <a:t>for</a:t>
            </a:r>
            <a:r>
              <a:rPr lang="hu-HU" sz="1800" dirty="0">
                <a:solidFill>
                  <a:srgbClr val="000000"/>
                </a:solidFill>
                <a:latin typeface="Consolas" panose="020B0609020204030204" pitchFamily="49" charset="0"/>
              </a:rPr>
              <a:t> elem </a:t>
            </a:r>
            <a:r>
              <a:rPr lang="hu-HU" sz="1800" dirty="0">
                <a:solidFill>
                  <a:srgbClr val="0000FF"/>
                </a:solidFill>
                <a:latin typeface="Consolas" panose="020B0609020204030204" pitchFamily="49" charset="0"/>
              </a:rPr>
              <a:t>in</a:t>
            </a:r>
            <a:r>
              <a:rPr lang="hu-HU" sz="1800" dirty="0">
                <a:solidFill>
                  <a:srgbClr val="000000"/>
                </a:solidFill>
                <a:latin typeface="Consolas" panose="020B0609020204030204" pitchFamily="49" charset="0"/>
              </a:rPr>
              <a:t> T:</a:t>
            </a:r>
          </a:p>
          <a:p>
            <a:pPr marL="457200" lvl="1" indent="0">
              <a:buNone/>
            </a:pPr>
            <a:r>
              <a:rPr lang="hu-HU" sz="18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hu-HU" sz="1800" dirty="0" err="1">
                <a:solidFill>
                  <a:srgbClr val="0000FF"/>
                </a:solidFill>
                <a:latin typeface="Consolas" panose="020B0609020204030204" pitchFamily="49" charset="0"/>
              </a:rPr>
              <a:t>if</a:t>
            </a:r>
            <a:r>
              <a:rPr lang="hu-HU" sz="1800" dirty="0">
                <a:solidFill>
                  <a:srgbClr val="000000"/>
                </a:solidFill>
                <a:latin typeface="Consolas" panose="020B0609020204030204" pitchFamily="49" charset="0"/>
              </a:rPr>
              <a:t> elem &lt; </a:t>
            </a:r>
            <a:r>
              <a:rPr lang="hu-HU" sz="1800" dirty="0">
                <a:solidFill>
                  <a:srgbClr val="098658"/>
                </a:solidFill>
                <a:latin typeface="Consolas" panose="020B0609020204030204" pitchFamily="49" charset="0"/>
              </a:rPr>
              <a:t>0</a:t>
            </a:r>
            <a:r>
              <a:rPr lang="hu-HU" sz="1800" dirty="0">
                <a:solidFill>
                  <a:srgbClr val="000000"/>
                </a:solidFill>
                <a:latin typeface="Consolas" panose="020B0609020204030204" pitchFamily="49" charset="0"/>
              </a:rPr>
              <a:t>:</a:t>
            </a:r>
          </a:p>
          <a:p>
            <a:pPr marL="457200" lvl="1" indent="0">
              <a:buNone/>
            </a:pPr>
            <a:r>
              <a:rPr lang="hu-HU" sz="18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db += </a:t>
            </a:r>
            <a:r>
              <a:rPr lang="hu-HU" sz="1800" dirty="0">
                <a:solidFill>
                  <a:srgbClr val="098658"/>
                </a:solidFill>
                <a:latin typeface="Consolas" panose="020B0609020204030204" pitchFamily="49" charset="0"/>
              </a:rPr>
              <a:t>1</a:t>
            </a:r>
            <a:endParaRPr lang="hu-HU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457200" lvl="1" indent="0">
              <a:buNone/>
            </a:pPr>
            <a:r>
              <a:rPr lang="hu-HU" sz="1800" dirty="0">
                <a:solidFill>
                  <a:srgbClr val="000000"/>
                </a:solidFill>
                <a:latin typeface="Consolas" panose="020B0609020204030204" pitchFamily="49" charset="0"/>
              </a:rPr>
              <a:t>print(</a:t>
            </a:r>
            <a:r>
              <a:rPr lang="hu-HU" sz="1800" dirty="0" err="1">
                <a:solidFill>
                  <a:srgbClr val="0000FF"/>
                </a:solidFill>
                <a:latin typeface="Consolas" panose="020B0609020204030204" pitchFamily="49" charset="0"/>
              </a:rPr>
              <a:t>f</a:t>
            </a:r>
            <a:r>
              <a:rPr lang="hu-HU" sz="1800" dirty="0" err="1">
                <a:solidFill>
                  <a:srgbClr val="A31515"/>
                </a:solidFill>
                <a:latin typeface="Consolas" panose="020B0609020204030204" pitchFamily="49" charset="0"/>
              </a:rPr>
              <a:t>'A</a:t>
            </a:r>
            <a:r>
              <a:rPr lang="hu-HU" sz="1800" dirty="0">
                <a:solidFill>
                  <a:srgbClr val="A31515"/>
                </a:solidFill>
                <a:latin typeface="Consolas" panose="020B0609020204030204" pitchFamily="49" charset="0"/>
              </a:rPr>
              <a:t> listában </a:t>
            </a:r>
            <a:r>
              <a:rPr lang="hu-HU" sz="1800" dirty="0">
                <a:solidFill>
                  <a:srgbClr val="000000"/>
                </a:solidFill>
                <a:latin typeface="Consolas" panose="020B0609020204030204" pitchFamily="49" charset="0"/>
              </a:rPr>
              <a:t>{db}</a:t>
            </a:r>
            <a:r>
              <a:rPr lang="hu-HU" sz="1800" dirty="0">
                <a:solidFill>
                  <a:srgbClr val="A31515"/>
                </a:solidFill>
                <a:latin typeface="Consolas" panose="020B0609020204030204" pitchFamily="49" charset="0"/>
              </a:rPr>
              <a:t> db negatív szám van.'</a:t>
            </a:r>
            <a:r>
              <a:rPr lang="hu-HU" sz="18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pPr marL="457200" lvl="1" indent="0" algn="l">
              <a:lnSpc>
                <a:spcPct val="150000"/>
              </a:lnSpc>
              <a:spcBef>
                <a:spcPts val="0"/>
              </a:spcBef>
              <a:buNone/>
            </a:pPr>
            <a:endParaRPr lang="hu-HU" sz="1600" b="1" dirty="0">
              <a:solidFill>
                <a:srgbClr val="008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358070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Maximum/minimum kiválasztás</a:t>
            </a:r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>
          <a:xfrm>
            <a:off x="128954" y="926856"/>
            <a:ext cx="11934092" cy="2010807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hu-HU" dirty="0"/>
              <a:t>Egy „n” elemű sorozat (tömb) azon elemsorszámának a meghatározása amelyik a legnagyobb/legkisebb elemet tartalmazza. </a:t>
            </a:r>
            <a:r>
              <a:rPr lang="hu-HU" b="1" u="sng" dirty="0"/>
              <a:t>Előfeltétel</a:t>
            </a:r>
            <a:r>
              <a:rPr lang="hu-HU" dirty="0"/>
              <a:t>:a sorozat elemei között értelmezhető a kisebb-nagyobb reláció.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hu-HU" dirty="0"/>
              <a:t>Pl.: </a:t>
            </a:r>
            <a:r>
              <a:rPr lang="hu-HU" dirty="0" err="1"/>
              <a:t>pl</a:t>
            </a:r>
            <a:r>
              <a:rPr lang="hu-HU" dirty="0"/>
              <a:t>: a legjobb átlaggal rendelkező tanuló meghatározása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hu-HU" dirty="0"/>
          </a:p>
        </p:txBody>
      </p:sp>
      <p:sp>
        <p:nvSpPr>
          <p:cNvPr id="4" name="Szövegdoboz 3"/>
          <p:cNvSpPr txBox="1"/>
          <p:nvPr/>
        </p:nvSpPr>
        <p:spPr>
          <a:xfrm>
            <a:off x="319454" y="2513901"/>
            <a:ext cx="5433646" cy="38318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hu-HU" u="sng" dirty="0"/>
              <a:t>Mondatszerű leírással:</a:t>
            </a:r>
            <a:endParaRPr lang="hu-HU" u="sng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>
              <a:lnSpc>
                <a:spcPct val="150000"/>
              </a:lnSpc>
            </a:pPr>
            <a:r>
              <a:rPr lang="hu-HU" b="1" dirty="0">
                <a:latin typeface="Courier New" panose="02070309020205020404" pitchFamily="49" charset="0"/>
                <a:cs typeface="Courier New" panose="02070309020205020404" pitchFamily="49" charset="0"/>
              </a:rPr>
              <a:t>m := 1;</a:t>
            </a:r>
          </a:p>
          <a:p>
            <a:pPr lvl="1">
              <a:lnSpc>
                <a:spcPct val="150000"/>
              </a:lnSpc>
            </a:pPr>
            <a:r>
              <a:rPr lang="hu-HU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maxErtek</a:t>
            </a:r>
            <a:r>
              <a:rPr lang="hu-HU" b="1" dirty="0">
                <a:latin typeface="Courier New" panose="02070309020205020404" pitchFamily="49" charset="0"/>
                <a:cs typeface="Courier New" panose="02070309020205020404" pitchFamily="49" charset="0"/>
              </a:rPr>
              <a:t> := T[m]</a:t>
            </a:r>
          </a:p>
          <a:p>
            <a:pPr lvl="1">
              <a:lnSpc>
                <a:spcPct val="150000"/>
              </a:lnSpc>
            </a:pPr>
            <a:r>
              <a:rPr lang="hu-HU" b="1" dirty="0">
                <a:latin typeface="Courier New" panose="02070309020205020404" pitchFamily="49" charset="0"/>
                <a:cs typeface="Courier New" panose="02070309020205020404" pitchFamily="49" charset="0"/>
              </a:rPr>
              <a:t>Ciklus i:=2-től n-ig 1-esével</a:t>
            </a:r>
          </a:p>
          <a:p>
            <a:pPr lvl="1">
              <a:lnSpc>
                <a:spcPct val="150000"/>
              </a:lnSpc>
            </a:pPr>
            <a:r>
              <a:rPr lang="hu-HU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Ha T[i] &gt; </a:t>
            </a:r>
            <a:r>
              <a:rPr lang="hu-HU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maxErtek</a:t>
            </a:r>
            <a:r>
              <a:rPr lang="hu-HU" b="1" dirty="0">
                <a:latin typeface="Courier New" panose="02070309020205020404" pitchFamily="49" charset="0"/>
                <a:cs typeface="Courier New" panose="02070309020205020404" pitchFamily="49" charset="0"/>
              </a:rPr>
              <a:t> akkor</a:t>
            </a:r>
          </a:p>
          <a:p>
            <a:pPr lvl="1">
              <a:lnSpc>
                <a:spcPct val="150000"/>
              </a:lnSpc>
            </a:pPr>
            <a:r>
              <a:rPr lang="hu-HU" b="1" dirty="0"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  <a:r>
              <a:rPr lang="hu-HU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maxErtek</a:t>
            </a:r>
            <a:r>
              <a:rPr lang="hu-HU" b="1" dirty="0">
                <a:latin typeface="Courier New" panose="02070309020205020404" pitchFamily="49" charset="0"/>
                <a:cs typeface="Courier New" panose="02070309020205020404" pitchFamily="49" charset="0"/>
              </a:rPr>
              <a:t> := T[i]</a:t>
            </a:r>
          </a:p>
          <a:p>
            <a:pPr lvl="1">
              <a:lnSpc>
                <a:spcPct val="150000"/>
              </a:lnSpc>
            </a:pPr>
            <a:r>
              <a:rPr lang="hu-HU" b="1" dirty="0">
                <a:latin typeface="Courier New" panose="02070309020205020404" pitchFamily="49" charset="0"/>
                <a:cs typeface="Courier New" panose="02070309020205020404" pitchFamily="49" charset="0"/>
              </a:rPr>
              <a:t>		m := i</a:t>
            </a:r>
          </a:p>
          <a:p>
            <a:pPr lvl="1">
              <a:lnSpc>
                <a:spcPct val="150000"/>
              </a:lnSpc>
            </a:pPr>
            <a:r>
              <a:rPr lang="hu-HU" b="1" dirty="0">
                <a:latin typeface="Courier New" panose="02070309020205020404" pitchFamily="49" charset="0"/>
                <a:cs typeface="Courier New" panose="02070309020205020404" pitchFamily="49" charset="0"/>
              </a:rPr>
              <a:t>Ciklus vége</a:t>
            </a:r>
          </a:p>
          <a:p>
            <a:pPr lvl="1">
              <a:lnSpc>
                <a:spcPct val="150000"/>
              </a:lnSpc>
            </a:pPr>
            <a:r>
              <a:rPr lang="hu-HU" b="1" dirty="0">
                <a:latin typeface="Courier New" panose="02070309020205020404" pitchFamily="49" charset="0"/>
                <a:cs typeface="Courier New" panose="02070309020205020404" pitchFamily="49" charset="0"/>
              </a:rPr>
              <a:t>Ki: m, </a:t>
            </a:r>
            <a:r>
              <a:rPr lang="hu-HU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maxErtek</a:t>
            </a:r>
            <a:endParaRPr lang="hu-HU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860310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Maximum/minimum kiválasztás</a:t>
            </a:r>
          </a:p>
        </p:txBody>
      </p:sp>
      <p:sp>
        <p:nvSpPr>
          <p:cNvPr id="4" name="Tartalom helye 2"/>
          <p:cNvSpPr>
            <a:spLocks noGrp="1"/>
          </p:cNvSpPr>
          <p:nvPr>
            <p:ph idx="1"/>
          </p:nvPr>
        </p:nvSpPr>
        <p:spPr>
          <a:xfrm>
            <a:off x="128954" y="625232"/>
            <a:ext cx="11934092" cy="6163739"/>
          </a:xfrm>
        </p:spPr>
        <p:txBody>
          <a:bodyPr/>
          <a:lstStyle/>
          <a:p>
            <a:pPr lvl="0" algn="l">
              <a:lnSpc>
                <a:spcPct val="150000"/>
              </a:lnSpc>
              <a:spcBef>
                <a:spcPts val="0"/>
              </a:spcBef>
            </a:pPr>
            <a:r>
              <a:rPr lang="hu-HU" sz="1800" u="sng" dirty="0">
                <a:solidFill>
                  <a:prstClr val="black"/>
                </a:solidFill>
              </a:rPr>
              <a:t>Egy 100 elemű tömb legkisebb elemének megkeresése, Python nyelven</a:t>
            </a:r>
            <a:endParaRPr lang="hu-HU" sz="1800" u="sng" dirty="0">
              <a:solidFill>
                <a:prstClr val="black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hu-HU" sz="1800" dirty="0">
                <a:solidFill>
                  <a:srgbClr val="008000"/>
                </a:solidFill>
                <a:latin typeface="Consolas" panose="020B0609020204030204" pitchFamily="49" charset="0"/>
              </a:rPr>
              <a:t>#lista deklarálása és feltöltése véletlen számokkal</a:t>
            </a:r>
            <a:endParaRPr lang="hu-HU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hu-HU" sz="1800" dirty="0">
                <a:solidFill>
                  <a:srgbClr val="0000FF"/>
                </a:solidFill>
                <a:latin typeface="Consolas" panose="020B0609020204030204" pitchFamily="49" charset="0"/>
              </a:rPr>
              <a:t>import</a:t>
            </a:r>
            <a:r>
              <a:rPr lang="hu-HU" sz="1800" dirty="0">
                <a:solidFill>
                  <a:srgbClr val="000000"/>
                </a:solidFill>
                <a:latin typeface="Consolas" panose="020B0609020204030204" pitchFamily="49" charset="0"/>
              </a:rPr>
              <a:t> random</a:t>
            </a:r>
          </a:p>
          <a:p>
            <a:br>
              <a:rPr lang="hu-HU" sz="18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hu-HU" sz="1800" dirty="0">
                <a:solidFill>
                  <a:srgbClr val="000000"/>
                </a:solidFill>
                <a:latin typeface="Consolas" panose="020B0609020204030204" pitchFamily="49" charset="0"/>
              </a:rPr>
              <a:t>T = []</a:t>
            </a:r>
          </a:p>
          <a:p>
            <a:r>
              <a:rPr lang="hu-HU" sz="1800" dirty="0" err="1">
                <a:solidFill>
                  <a:srgbClr val="0000FF"/>
                </a:solidFill>
                <a:latin typeface="Consolas" panose="020B0609020204030204" pitchFamily="49" charset="0"/>
              </a:rPr>
              <a:t>for</a:t>
            </a:r>
            <a:r>
              <a:rPr lang="hu-HU" sz="1800" dirty="0">
                <a:solidFill>
                  <a:srgbClr val="000000"/>
                </a:solidFill>
                <a:latin typeface="Consolas" panose="020B0609020204030204" pitchFamily="49" charset="0"/>
              </a:rPr>
              <a:t> i </a:t>
            </a:r>
            <a:r>
              <a:rPr lang="hu-HU" sz="1800" dirty="0">
                <a:solidFill>
                  <a:srgbClr val="0000FF"/>
                </a:solidFill>
                <a:latin typeface="Consolas" panose="020B0609020204030204" pitchFamily="49" charset="0"/>
              </a:rPr>
              <a:t>in</a:t>
            </a:r>
            <a:r>
              <a:rPr lang="hu-HU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hu-HU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range</a:t>
            </a:r>
            <a:r>
              <a:rPr lang="hu-HU" sz="18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hu-HU" sz="1800" dirty="0">
                <a:solidFill>
                  <a:srgbClr val="098658"/>
                </a:solidFill>
                <a:latin typeface="Consolas" panose="020B0609020204030204" pitchFamily="49" charset="0"/>
              </a:rPr>
              <a:t>100</a:t>
            </a:r>
            <a:r>
              <a:rPr lang="hu-HU" sz="1800" dirty="0">
                <a:solidFill>
                  <a:srgbClr val="000000"/>
                </a:solidFill>
                <a:latin typeface="Consolas" panose="020B0609020204030204" pitchFamily="49" charset="0"/>
              </a:rPr>
              <a:t>):</a:t>
            </a:r>
          </a:p>
          <a:p>
            <a:r>
              <a:rPr lang="hu-HU" sz="18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hu-HU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T.append</a:t>
            </a:r>
            <a:r>
              <a:rPr lang="hu-HU" sz="18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hu-HU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random.randint</a:t>
            </a:r>
            <a:r>
              <a:rPr lang="hu-HU" sz="1800" dirty="0">
                <a:solidFill>
                  <a:srgbClr val="000000"/>
                </a:solidFill>
                <a:latin typeface="Consolas" panose="020B0609020204030204" pitchFamily="49" charset="0"/>
              </a:rPr>
              <a:t>(-</a:t>
            </a:r>
            <a:r>
              <a:rPr lang="hu-HU" sz="1800" dirty="0">
                <a:solidFill>
                  <a:srgbClr val="098658"/>
                </a:solidFill>
                <a:latin typeface="Consolas" panose="020B0609020204030204" pitchFamily="49" charset="0"/>
              </a:rPr>
              <a:t>100</a:t>
            </a:r>
            <a:r>
              <a:rPr lang="hu-HU" sz="18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hu-HU" sz="1800" dirty="0">
                <a:solidFill>
                  <a:srgbClr val="098658"/>
                </a:solidFill>
                <a:latin typeface="Consolas" panose="020B0609020204030204" pitchFamily="49" charset="0"/>
              </a:rPr>
              <a:t>100</a:t>
            </a:r>
            <a:r>
              <a:rPr lang="hu-HU" sz="1800" dirty="0">
                <a:solidFill>
                  <a:srgbClr val="000000"/>
                </a:solidFill>
                <a:latin typeface="Consolas" panose="020B0609020204030204" pitchFamily="49" charset="0"/>
              </a:rPr>
              <a:t>))</a:t>
            </a:r>
          </a:p>
          <a:p>
            <a:r>
              <a:rPr lang="hu-HU" sz="1800" dirty="0">
                <a:solidFill>
                  <a:srgbClr val="000000"/>
                </a:solidFill>
                <a:latin typeface="Consolas" panose="020B0609020204030204" pitchFamily="49" charset="0"/>
              </a:rPr>
              <a:t>print(T)</a:t>
            </a:r>
          </a:p>
          <a:p>
            <a:br>
              <a:rPr lang="hu-HU" sz="18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hu-HU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minIndex</a:t>
            </a:r>
            <a:r>
              <a:rPr lang="hu-HU" sz="18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hu-HU" sz="1800" dirty="0">
                <a:solidFill>
                  <a:srgbClr val="098658"/>
                </a:solidFill>
                <a:latin typeface="Consolas" panose="020B0609020204030204" pitchFamily="49" charset="0"/>
              </a:rPr>
              <a:t>0</a:t>
            </a:r>
            <a:endParaRPr lang="hu-HU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hu-HU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minErtek</a:t>
            </a:r>
            <a:r>
              <a:rPr lang="hu-HU" sz="1800" dirty="0">
                <a:solidFill>
                  <a:srgbClr val="000000"/>
                </a:solidFill>
                <a:latin typeface="Consolas" panose="020B0609020204030204" pitchFamily="49" charset="0"/>
              </a:rPr>
              <a:t> = T[</a:t>
            </a:r>
            <a:r>
              <a:rPr lang="hu-HU" sz="1800" dirty="0">
                <a:solidFill>
                  <a:srgbClr val="098658"/>
                </a:solidFill>
                <a:latin typeface="Consolas" panose="020B0609020204030204" pitchFamily="49" charset="0"/>
              </a:rPr>
              <a:t>0</a:t>
            </a:r>
            <a:r>
              <a:rPr lang="hu-HU" sz="1800" dirty="0">
                <a:solidFill>
                  <a:srgbClr val="000000"/>
                </a:solidFill>
                <a:latin typeface="Consolas" panose="020B0609020204030204" pitchFamily="49" charset="0"/>
              </a:rPr>
              <a:t>]</a:t>
            </a:r>
          </a:p>
          <a:p>
            <a:r>
              <a:rPr lang="hu-HU" sz="1800" dirty="0" err="1">
                <a:solidFill>
                  <a:srgbClr val="0000FF"/>
                </a:solidFill>
                <a:latin typeface="Consolas" panose="020B0609020204030204" pitchFamily="49" charset="0"/>
              </a:rPr>
              <a:t>for</a:t>
            </a:r>
            <a:r>
              <a:rPr lang="hu-HU" sz="1800" dirty="0">
                <a:solidFill>
                  <a:srgbClr val="000000"/>
                </a:solidFill>
                <a:latin typeface="Consolas" panose="020B0609020204030204" pitchFamily="49" charset="0"/>
              </a:rPr>
              <a:t> i </a:t>
            </a:r>
            <a:r>
              <a:rPr lang="hu-HU" sz="1800" dirty="0">
                <a:solidFill>
                  <a:srgbClr val="0000FF"/>
                </a:solidFill>
                <a:latin typeface="Consolas" panose="020B0609020204030204" pitchFamily="49" charset="0"/>
              </a:rPr>
              <a:t>in</a:t>
            </a:r>
            <a:r>
              <a:rPr lang="hu-HU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hu-HU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range</a:t>
            </a:r>
            <a:r>
              <a:rPr lang="hu-HU" sz="18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hu-HU" sz="1800" dirty="0">
                <a:solidFill>
                  <a:srgbClr val="098658"/>
                </a:solidFill>
                <a:latin typeface="Consolas" panose="020B0609020204030204" pitchFamily="49" charset="0"/>
              </a:rPr>
              <a:t>1</a:t>
            </a:r>
            <a:r>
              <a:rPr lang="hu-HU" sz="18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hu-HU" sz="1800" dirty="0">
                <a:solidFill>
                  <a:srgbClr val="098658"/>
                </a:solidFill>
                <a:latin typeface="Consolas" panose="020B0609020204030204" pitchFamily="49" charset="0"/>
              </a:rPr>
              <a:t>100</a:t>
            </a:r>
            <a:r>
              <a:rPr lang="hu-HU" sz="1800" dirty="0">
                <a:solidFill>
                  <a:srgbClr val="000000"/>
                </a:solidFill>
                <a:latin typeface="Consolas" panose="020B0609020204030204" pitchFamily="49" charset="0"/>
              </a:rPr>
              <a:t>):</a:t>
            </a:r>
          </a:p>
          <a:p>
            <a:r>
              <a:rPr lang="hu-HU" sz="18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hu-HU" sz="1800" dirty="0" err="1">
                <a:solidFill>
                  <a:srgbClr val="0000FF"/>
                </a:solidFill>
                <a:latin typeface="Consolas" panose="020B0609020204030204" pitchFamily="49" charset="0"/>
              </a:rPr>
              <a:t>if</a:t>
            </a:r>
            <a:r>
              <a:rPr lang="hu-HU" sz="1800" dirty="0">
                <a:solidFill>
                  <a:srgbClr val="000000"/>
                </a:solidFill>
                <a:latin typeface="Consolas" panose="020B0609020204030204" pitchFamily="49" charset="0"/>
              </a:rPr>
              <a:t> T[i] &lt; </a:t>
            </a:r>
            <a:r>
              <a:rPr lang="hu-HU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minErtek</a:t>
            </a:r>
            <a:r>
              <a:rPr lang="hu-HU" sz="1800" dirty="0">
                <a:solidFill>
                  <a:srgbClr val="000000"/>
                </a:solidFill>
                <a:latin typeface="Consolas" panose="020B0609020204030204" pitchFamily="49" charset="0"/>
              </a:rPr>
              <a:t>:</a:t>
            </a:r>
          </a:p>
          <a:p>
            <a:r>
              <a:rPr lang="hu-HU" sz="18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hu-HU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minErtek</a:t>
            </a:r>
            <a:r>
              <a:rPr lang="hu-HU" sz="1800" dirty="0">
                <a:solidFill>
                  <a:srgbClr val="000000"/>
                </a:solidFill>
                <a:latin typeface="Consolas" panose="020B0609020204030204" pitchFamily="49" charset="0"/>
              </a:rPr>
              <a:t> = T[i]</a:t>
            </a:r>
          </a:p>
          <a:p>
            <a:r>
              <a:rPr lang="hu-HU" sz="18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hu-HU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minIndex</a:t>
            </a:r>
            <a:r>
              <a:rPr lang="hu-HU" sz="1800" dirty="0">
                <a:solidFill>
                  <a:srgbClr val="000000"/>
                </a:solidFill>
                <a:latin typeface="Consolas" panose="020B0609020204030204" pitchFamily="49" charset="0"/>
              </a:rPr>
              <a:t> = i</a:t>
            </a:r>
          </a:p>
          <a:p>
            <a:br>
              <a:rPr lang="hu-HU" sz="18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hu-HU" sz="1800" dirty="0">
                <a:solidFill>
                  <a:srgbClr val="000000"/>
                </a:solidFill>
                <a:latin typeface="Consolas" panose="020B0609020204030204" pitchFamily="49" charset="0"/>
              </a:rPr>
              <a:t>print(</a:t>
            </a:r>
            <a:r>
              <a:rPr lang="hu-HU" sz="1800" dirty="0" err="1">
                <a:solidFill>
                  <a:srgbClr val="0000FF"/>
                </a:solidFill>
                <a:latin typeface="Consolas" panose="020B0609020204030204" pitchFamily="49" charset="0"/>
              </a:rPr>
              <a:t>f</a:t>
            </a:r>
            <a:r>
              <a:rPr lang="hu-HU" sz="1800" dirty="0" err="1">
                <a:solidFill>
                  <a:srgbClr val="A31515"/>
                </a:solidFill>
                <a:latin typeface="Consolas" panose="020B0609020204030204" pitchFamily="49" charset="0"/>
              </a:rPr>
              <a:t>'A</a:t>
            </a:r>
            <a:r>
              <a:rPr lang="hu-HU" sz="1800" dirty="0">
                <a:solidFill>
                  <a:srgbClr val="A31515"/>
                </a:solidFill>
                <a:latin typeface="Consolas" panose="020B0609020204030204" pitchFamily="49" charset="0"/>
              </a:rPr>
              <a:t> legkisebb elem indexe: </a:t>
            </a:r>
            <a:r>
              <a:rPr lang="hu-HU" sz="18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  <a:r>
              <a:rPr lang="hu-HU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minIndex</a:t>
            </a:r>
            <a:r>
              <a:rPr lang="hu-HU" sz="18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r>
              <a:rPr lang="hu-HU" sz="1800" dirty="0">
                <a:solidFill>
                  <a:srgbClr val="A31515"/>
                </a:solidFill>
                <a:latin typeface="Consolas" panose="020B0609020204030204" pitchFamily="49" charset="0"/>
              </a:rPr>
              <a:t> (sorszáma: </a:t>
            </a:r>
            <a:r>
              <a:rPr lang="hu-HU" sz="1800" dirty="0">
                <a:solidFill>
                  <a:srgbClr val="000000"/>
                </a:solidFill>
                <a:latin typeface="Consolas" panose="020B0609020204030204" pitchFamily="49" charset="0"/>
              </a:rPr>
              <a:t>{minIndex+</a:t>
            </a:r>
            <a:r>
              <a:rPr lang="hu-HU" sz="1800" dirty="0">
                <a:solidFill>
                  <a:srgbClr val="098658"/>
                </a:solidFill>
                <a:latin typeface="Consolas" panose="020B0609020204030204" pitchFamily="49" charset="0"/>
              </a:rPr>
              <a:t>1</a:t>
            </a:r>
            <a:r>
              <a:rPr lang="hu-HU" sz="18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r>
              <a:rPr lang="hu-HU" sz="1800" dirty="0">
                <a:solidFill>
                  <a:srgbClr val="A31515"/>
                </a:solidFill>
                <a:latin typeface="Consolas" panose="020B0609020204030204" pitchFamily="49" charset="0"/>
              </a:rPr>
              <a:t>), értéke: </a:t>
            </a:r>
            <a:r>
              <a:rPr lang="hu-HU" sz="18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  <a:r>
              <a:rPr lang="hu-HU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minErtek</a:t>
            </a:r>
            <a:r>
              <a:rPr lang="hu-HU" sz="18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r>
              <a:rPr lang="hu-HU" sz="1800" dirty="0">
                <a:solidFill>
                  <a:srgbClr val="A31515"/>
                </a:solidFill>
                <a:latin typeface="Consolas" panose="020B0609020204030204" pitchFamily="49" charset="0"/>
              </a:rPr>
              <a:t>'</a:t>
            </a:r>
            <a:r>
              <a:rPr lang="hu-HU" sz="18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7804844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Kiválasztás</a:t>
            </a:r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>
          <a:xfrm>
            <a:off x="128954" y="926856"/>
            <a:ext cx="11934092" cy="1217769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hu-HU" dirty="0"/>
              <a:t>Egy „n” elemű sorozat (tömb) adott feltételnek (F) megfelelő elemsorszámának kiválasztása. </a:t>
            </a:r>
            <a:r>
              <a:rPr lang="hu-HU" u="sng" dirty="0"/>
              <a:t>Előfeltétel</a:t>
            </a:r>
            <a:r>
              <a:rPr lang="hu-HU" dirty="0"/>
              <a:t>: létezik a feltételnek megfelelő elem.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hu-HU" dirty="0"/>
              <a:t>Pl.: az első negatív elem sorszámának meghatározása.</a:t>
            </a:r>
          </a:p>
        </p:txBody>
      </p:sp>
      <p:sp>
        <p:nvSpPr>
          <p:cNvPr id="4" name="Szövegdoboz 3"/>
          <p:cNvSpPr txBox="1"/>
          <p:nvPr/>
        </p:nvSpPr>
        <p:spPr>
          <a:xfrm>
            <a:off x="128954" y="2446249"/>
            <a:ext cx="9148396" cy="30008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hu-HU" u="sng" dirty="0"/>
              <a:t>Mondatszerű leírással</a:t>
            </a:r>
            <a:r>
              <a:rPr lang="hu-HU" dirty="0"/>
              <a:t> </a:t>
            </a:r>
            <a:r>
              <a:rPr lang="hu-HU" dirty="0">
                <a:solidFill>
                  <a:srgbClr val="FF0000"/>
                </a:solidFill>
              </a:rPr>
              <a:t>(biztosan van a feltételnek megfelelő elem!!)</a:t>
            </a:r>
            <a:r>
              <a:rPr lang="hu-HU" dirty="0"/>
              <a:t>:</a:t>
            </a:r>
            <a:endParaRPr lang="hu-HU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>
              <a:lnSpc>
                <a:spcPct val="150000"/>
              </a:lnSpc>
            </a:pPr>
            <a:r>
              <a:rPr lang="hu-HU" b="1" dirty="0">
                <a:latin typeface="Courier New" panose="02070309020205020404" pitchFamily="49" charset="0"/>
                <a:cs typeface="Courier New" panose="02070309020205020404" pitchFamily="49" charset="0"/>
              </a:rPr>
              <a:t>i := 1;</a:t>
            </a:r>
          </a:p>
          <a:p>
            <a:pPr lvl="1">
              <a:lnSpc>
                <a:spcPct val="150000"/>
              </a:lnSpc>
            </a:pPr>
            <a:r>
              <a:rPr lang="hu-HU" b="1" dirty="0">
                <a:latin typeface="Courier New" panose="02070309020205020404" pitchFamily="49" charset="0"/>
                <a:cs typeface="Courier New" panose="02070309020205020404" pitchFamily="49" charset="0"/>
              </a:rPr>
              <a:t>Ciklus amíg i &lt;= N és ( T[i] nem felel meg F feltételnek )</a:t>
            </a:r>
          </a:p>
          <a:p>
            <a:pPr lvl="1">
              <a:lnSpc>
                <a:spcPct val="150000"/>
              </a:lnSpc>
            </a:pPr>
            <a:r>
              <a:rPr lang="hu-HU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i := </a:t>
            </a:r>
            <a:r>
              <a:rPr lang="hu-HU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hu-HU" b="1" dirty="0">
                <a:latin typeface="Courier New" panose="02070309020205020404" pitchFamily="49" charset="0"/>
                <a:cs typeface="Courier New" panose="02070309020205020404" pitchFamily="49" charset="0"/>
              </a:rPr>
              <a:t> + 1</a:t>
            </a:r>
          </a:p>
          <a:p>
            <a:pPr lvl="1">
              <a:lnSpc>
                <a:spcPct val="150000"/>
              </a:lnSpc>
            </a:pPr>
            <a:r>
              <a:rPr lang="hu-HU" b="1" dirty="0">
                <a:latin typeface="Courier New" panose="02070309020205020404" pitchFamily="49" charset="0"/>
                <a:cs typeface="Courier New" panose="02070309020205020404" pitchFamily="49" charset="0"/>
              </a:rPr>
              <a:t>Ciklus vége</a:t>
            </a:r>
          </a:p>
          <a:p>
            <a:pPr lvl="1">
              <a:lnSpc>
                <a:spcPct val="150000"/>
              </a:lnSpc>
            </a:pPr>
            <a:r>
              <a:rPr lang="hu-HU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sorszam</a:t>
            </a:r>
            <a:r>
              <a:rPr lang="hu-HU" b="1" dirty="0">
                <a:latin typeface="Courier New" panose="02070309020205020404" pitchFamily="49" charset="0"/>
                <a:cs typeface="Courier New" panose="02070309020205020404" pitchFamily="49" charset="0"/>
              </a:rPr>
              <a:t> := i</a:t>
            </a:r>
          </a:p>
          <a:p>
            <a:pPr lvl="1">
              <a:lnSpc>
                <a:spcPct val="150000"/>
              </a:lnSpc>
            </a:pPr>
            <a:r>
              <a:rPr lang="hu-HU" b="1" dirty="0">
                <a:latin typeface="Courier New" panose="02070309020205020404" pitchFamily="49" charset="0"/>
                <a:cs typeface="Courier New" panose="02070309020205020404" pitchFamily="49" charset="0"/>
              </a:rPr>
              <a:t>Ki: </a:t>
            </a:r>
            <a:r>
              <a:rPr lang="hu-HU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sorszam</a:t>
            </a:r>
            <a:endParaRPr lang="hu-HU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9569232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Keresés</a:t>
            </a:r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>
          <a:xfrm>
            <a:off x="128954" y="926856"/>
            <a:ext cx="11934092" cy="1550168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hu-HU" dirty="0"/>
              <a:t>Hasonlít a kiválasztáshoz, de annál biztonságosabb: Annak eldöntése, hogy egy „n” elemű sorozat (tömb) elemi között van-e olyan, ami megfelel a megadott (F) feltételnek, ha igen, akkor hányadik.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hu-HU" dirty="0"/>
              <a:t>Pl.: van-e negatív elem, ha igen hányadik az első.</a:t>
            </a:r>
          </a:p>
        </p:txBody>
      </p:sp>
      <p:sp>
        <p:nvSpPr>
          <p:cNvPr id="4" name="Szövegdoboz 3"/>
          <p:cNvSpPr txBox="1"/>
          <p:nvPr/>
        </p:nvSpPr>
        <p:spPr>
          <a:xfrm>
            <a:off x="128954" y="2673873"/>
            <a:ext cx="9148396" cy="38318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hu-HU" u="sng" dirty="0"/>
              <a:t>Mondatszerű leírással:</a:t>
            </a:r>
            <a:endParaRPr lang="hu-HU" u="sng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>
              <a:lnSpc>
                <a:spcPct val="150000"/>
              </a:lnSpc>
            </a:pPr>
            <a:r>
              <a:rPr lang="hu-HU" b="1" dirty="0">
                <a:latin typeface="Courier New" panose="02070309020205020404" pitchFamily="49" charset="0"/>
                <a:cs typeface="Courier New" panose="02070309020205020404" pitchFamily="49" charset="0"/>
              </a:rPr>
              <a:t>i := 1;</a:t>
            </a:r>
          </a:p>
          <a:p>
            <a:pPr lvl="1">
              <a:lnSpc>
                <a:spcPct val="150000"/>
              </a:lnSpc>
            </a:pPr>
            <a:r>
              <a:rPr lang="hu-HU" b="1" dirty="0">
                <a:latin typeface="Courier New" panose="02070309020205020404" pitchFamily="49" charset="0"/>
                <a:cs typeface="Courier New" panose="02070309020205020404" pitchFamily="49" charset="0"/>
              </a:rPr>
              <a:t>Ciklus amíg i &lt;= N és ( T[i] nem felel meg F feltételnek )</a:t>
            </a:r>
          </a:p>
          <a:p>
            <a:pPr lvl="1">
              <a:lnSpc>
                <a:spcPct val="150000"/>
              </a:lnSpc>
            </a:pPr>
            <a:r>
              <a:rPr lang="hu-HU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i := </a:t>
            </a:r>
            <a:r>
              <a:rPr lang="hu-HU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hu-HU" b="1" dirty="0">
                <a:latin typeface="Courier New" panose="02070309020205020404" pitchFamily="49" charset="0"/>
                <a:cs typeface="Courier New" panose="02070309020205020404" pitchFamily="49" charset="0"/>
              </a:rPr>
              <a:t> + 1</a:t>
            </a:r>
          </a:p>
          <a:p>
            <a:pPr lvl="1">
              <a:lnSpc>
                <a:spcPct val="150000"/>
              </a:lnSpc>
            </a:pPr>
            <a:r>
              <a:rPr lang="hu-HU" b="1" dirty="0">
                <a:latin typeface="Courier New" panose="02070309020205020404" pitchFamily="49" charset="0"/>
                <a:cs typeface="Courier New" panose="02070309020205020404" pitchFamily="49" charset="0"/>
              </a:rPr>
              <a:t>Ciklus vége</a:t>
            </a:r>
          </a:p>
          <a:p>
            <a:pPr lvl="1">
              <a:lnSpc>
                <a:spcPct val="150000"/>
              </a:lnSpc>
            </a:pPr>
            <a:r>
              <a:rPr lang="hu-HU" b="1" dirty="0">
                <a:latin typeface="Courier New" panose="02070309020205020404" pitchFamily="49" charset="0"/>
                <a:cs typeface="Courier New" panose="02070309020205020404" pitchFamily="49" charset="0"/>
              </a:rPr>
              <a:t>van := ( i&lt;= N)</a:t>
            </a:r>
          </a:p>
          <a:p>
            <a:pPr lvl="1">
              <a:lnSpc>
                <a:spcPct val="150000"/>
              </a:lnSpc>
            </a:pPr>
            <a:r>
              <a:rPr lang="hu-HU" b="1" dirty="0">
                <a:latin typeface="Courier New" panose="02070309020205020404" pitchFamily="49" charset="0"/>
                <a:cs typeface="Courier New" panose="02070309020205020404" pitchFamily="49" charset="0"/>
              </a:rPr>
              <a:t>Ha van</a:t>
            </a:r>
          </a:p>
          <a:p>
            <a:pPr lvl="1">
              <a:lnSpc>
                <a:spcPct val="150000"/>
              </a:lnSpc>
            </a:pPr>
            <a:r>
              <a:rPr lang="hu-HU" b="1" dirty="0">
                <a:latin typeface="Courier New" panose="02070309020205020404" pitchFamily="49" charset="0"/>
                <a:cs typeface="Courier New" panose="02070309020205020404" pitchFamily="49" charset="0"/>
              </a:rPr>
              <a:t>	akkor sorszám := i</a:t>
            </a:r>
          </a:p>
          <a:p>
            <a:pPr lvl="1">
              <a:lnSpc>
                <a:spcPct val="150000"/>
              </a:lnSpc>
            </a:pPr>
            <a:r>
              <a:rPr lang="hu-HU" b="1" dirty="0">
                <a:latin typeface="Courier New" panose="02070309020205020404" pitchFamily="49" charset="0"/>
                <a:cs typeface="Courier New" panose="02070309020205020404" pitchFamily="49" charset="0"/>
              </a:rPr>
              <a:t>Ki: van, sorszám</a:t>
            </a:r>
          </a:p>
        </p:txBody>
      </p:sp>
    </p:spTree>
    <p:extLst>
      <p:ext uri="{BB962C8B-B14F-4D97-AF65-F5344CB8AC3E}">
        <p14:creationId xmlns:p14="http://schemas.microsoft.com/office/powerpoint/2010/main" val="361946894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Logaritmikus keresés</a:t>
            </a:r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>
          <a:xfrm>
            <a:off x="128954" y="926856"/>
            <a:ext cx="11934092" cy="757130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hu-HU" dirty="0"/>
              <a:t>Annak eldöntése, hogy egy „n” elemű </a:t>
            </a:r>
            <a:r>
              <a:rPr lang="hu-HU" b="1" u="sng" dirty="0"/>
              <a:t>rendezett</a:t>
            </a:r>
            <a:r>
              <a:rPr lang="hu-HU" dirty="0"/>
              <a:t> sorozat (tömb) elemi között van-e a keresett (X) érték, ha igen, akkor hányadik.</a:t>
            </a:r>
          </a:p>
        </p:txBody>
      </p:sp>
      <p:sp>
        <p:nvSpPr>
          <p:cNvPr id="4" name="Szövegdoboz 3"/>
          <p:cNvSpPr txBox="1"/>
          <p:nvPr/>
        </p:nvSpPr>
        <p:spPr>
          <a:xfrm>
            <a:off x="128954" y="1760186"/>
            <a:ext cx="9148396" cy="51193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800"/>
              </a:lnSpc>
            </a:pPr>
            <a:r>
              <a:rPr lang="hu-HU" u="sng" dirty="0"/>
              <a:t>Mondatszerű leírással:</a:t>
            </a:r>
          </a:p>
          <a:p>
            <a:pPr lvl="1">
              <a:lnSpc>
                <a:spcPts val="2800"/>
              </a:lnSpc>
            </a:pPr>
            <a:r>
              <a:rPr lang="hu-HU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alsóHatár</a:t>
            </a:r>
            <a:r>
              <a:rPr lang="hu-HU" b="1" dirty="0">
                <a:latin typeface="Courier New" panose="02070309020205020404" pitchFamily="49" charset="0"/>
                <a:cs typeface="Courier New" panose="02070309020205020404" pitchFamily="49" charset="0"/>
              </a:rPr>
              <a:t> := 1</a:t>
            </a:r>
          </a:p>
          <a:p>
            <a:pPr lvl="1">
              <a:lnSpc>
                <a:spcPts val="2800"/>
              </a:lnSpc>
            </a:pPr>
            <a:r>
              <a:rPr lang="hu-HU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felsőHatár</a:t>
            </a:r>
            <a:r>
              <a:rPr lang="hu-HU" b="1" dirty="0">
                <a:latin typeface="Courier New" panose="02070309020205020404" pitchFamily="49" charset="0"/>
                <a:cs typeface="Courier New" panose="02070309020205020404" pitchFamily="49" charset="0"/>
              </a:rPr>
              <a:t> := N</a:t>
            </a:r>
          </a:p>
          <a:p>
            <a:pPr lvl="1">
              <a:lnSpc>
                <a:spcPts val="2800"/>
              </a:lnSpc>
            </a:pPr>
            <a:r>
              <a:rPr lang="hu-HU" b="1" dirty="0">
                <a:latin typeface="Courier New" panose="02070309020205020404" pitchFamily="49" charset="0"/>
                <a:cs typeface="Courier New" panose="02070309020205020404" pitchFamily="49" charset="0"/>
              </a:rPr>
              <a:t>Ciklus</a:t>
            </a:r>
          </a:p>
          <a:p>
            <a:pPr lvl="1">
              <a:lnSpc>
                <a:spcPts val="2800"/>
              </a:lnSpc>
            </a:pPr>
            <a:r>
              <a:rPr lang="hu-HU" b="1" dirty="0">
                <a:latin typeface="Courier New" panose="02070309020205020404" pitchFamily="49" charset="0"/>
                <a:cs typeface="Courier New" panose="02070309020205020404" pitchFamily="49" charset="0"/>
              </a:rPr>
              <a:t>	közép := (</a:t>
            </a:r>
            <a:r>
              <a:rPr lang="hu-HU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alsóHatár</a:t>
            </a:r>
            <a:r>
              <a:rPr lang="hu-HU" b="1" dirty="0">
                <a:latin typeface="Courier New" panose="02070309020205020404" pitchFamily="49" charset="0"/>
                <a:cs typeface="Courier New" panose="02070309020205020404" pitchFamily="49" charset="0"/>
              </a:rPr>
              <a:t> + </a:t>
            </a:r>
            <a:r>
              <a:rPr lang="hu-HU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felsőHatár</a:t>
            </a:r>
            <a:r>
              <a:rPr lang="hu-HU" b="1" dirty="0">
                <a:latin typeface="Courier New" panose="02070309020205020404" pitchFamily="49" charset="0"/>
                <a:cs typeface="Courier New" panose="02070309020205020404" pitchFamily="49" charset="0"/>
              </a:rPr>
              <a:t>)/2 egész része</a:t>
            </a:r>
          </a:p>
          <a:p>
            <a:pPr lvl="1">
              <a:lnSpc>
                <a:spcPts val="2800"/>
              </a:lnSpc>
            </a:pPr>
            <a:r>
              <a:rPr lang="hu-HU" b="1" dirty="0">
                <a:latin typeface="Courier New" panose="02070309020205020404" pitchFamily="49" charset="0"/>
                <a:cs typeface="Courier New" panose="02070309020205020404" pitchFamily="49" charset="0"/>
              </a:rPr>
              <a:t>	Ha A(közép) &lt; X</a:t>
            </a:r>
          </a:p>
          <a:p>
            <a:pPr lvl="1">
              <a:lnSpc>
                <a:spcPts val="2800"/>
              </a:lnSpc>
            </a:pPr>
            <a:r>
              <a:rPr lang="hu-HU" b="1" dirty="0">
                <a:latin typeface="Courier New" panose="02070309020205020404" pitchFamily="49" charset="0"/>
                <a:cs typeface="Courier New" panose="02070309020205020404" pitchFamily="49" charset="0"/>
              </a:rPr>
              <a:t>		akkor </a:t>
            </a:r>
            <a:r>
              <a:rPr lang="hu-HU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alsóHatár</a:t>
            </a:r>
            <a:r>
              <a:rPr lang="hu-HU" b="1" dirty="0">
                <a:latin typeface="Courier New" panose="02070309020205020404" pitchFamily="49" charset="0"/>
                <a:cs typeface="Courier New" panose="02070309020205020404" pitchFamily="49" charset="0"/>
              </a:rPr>
              <a:t> := közép + 1</a:t>
            </a:r>
          </a:p>
          <a:p>
            <a:pPr lvl="1">
              <a:lnSpc>
                <a:spcPts val="2800"/>
              </a:lnSpc>
            </a:pPr>
            <a:r>
              <a:rPr lang="hu-HU" b="1" dirty="0">
                <a:latin typeface="Courier New" panose="02070309020205020404" pitchFamily="49" charset="0"/>
                <a:cs typeface="Courier New" panose="02070309020205020404" pitchFamily="49" charset="0"/>
              </a:rPr>
              <a:t>	Ha A(közép) &gt; X</a:t>
            </a:r>
          </a:p>
          <a:p>
            <a:pPr lvl="1">
              <a:lnSpc>
                <a:spcPts val="2800"/>
              </a:lnSpc>
            </a:pPr>
            <a:r>
              <a:rPr lang="hu-HU" b="1" dirty="0">
                <a:latin typeface="Courier New" panose="02070309020205020404" pitchFamily="49" charset="0"/>
                <a:cs typeface="Courier New" panose="02070309020205020404" pitchFamily="49" charset="0"/>
              </a:rPr>
              <a:t>		akkor </a:t>
            </a:r>
            <a:r>
              <a:rPr lang="hu-HU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felsőHatár</a:t>
            </a:r>
            <a:r>
              <a:rPr lang="hu-HU" b="1" dirty="0">
                <a:latin typeface="Courier New" panose="02070309020205020404" pitchFamily="49" charset="0"/>
                <a:cs typeface="Courier New" panose="02070309020205020404" pitchFamily="49" charset="0"/>
              </a:rPr>
              <a:t> := közép - 1</a:t>
            </a:r>
          </a:p>
          <a:p>
            <a:pPr lvl="1">
              <a:lnSpc>
                <a:spcPts val="2800"/>
              </a:lnSpc>
            </a:pPr>
            <a:r>
              <a:rPr lang="hu-HU" b="1" dirty="0">
                <a:latin typeface="Courier New" panose="02070309020205020404" pitchFamily="49" charset="0"/>
                <a:cs typeface="Courier New" panose="02070309020205020404" pitchFamily="49" charset="0"/>
              </a:rPr>
              <a:t>amíg </a:t>
            </a:r>
            <a:r>
              <a:rPr lang="hu-HU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alsóHatár</a:t>
            </a:r>
            <a:r>
              <a:rPr lang="hu-HU" b="1" dirty="0">
                <a:latin typeface="Courier New" panose="02070309020205020404" pitchFamily="49" charset="0"/>
                <a:cs typeface="Courier New" panose="02070309020205020404" pitchFamily="49" charset="0"/>
              </a:rPr>
              <a:t> &lt;= </a:t>
            </a:r>
            <a:r>
              <a:rPr lang="hu-HU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felsőHatár</a:t>
            </a:r>
            <a:r>
              <a:rPr lang="hu-HU" b="1" dirty="0">
                <a:latin typeface="Courier New" panose="02070309020205020404" pitchFamily="49" charset="0"/>
                <a:cs typeface="Courier New" panose="02070309020205020404" pitchFamily="49" charset="0"/>
              </a:rPr>
              <a:t> és A(közép)!=X</a:t>
            </a:r>
          </a:p>
          <a:p>
            <a:pPr lvl="1">
              <a:lnSpc>
                <a:spcPts val="2800"/>
              </a:lnSpc>
            </a:pPr>
            <a:r>
              <a:rPr lang="hu-HU" b="1" dirty="0">
                <a:latin typeface="Courier New" panose="02070309020205020404" pitchFamily="49" charset="0"/>
                <a:cs typeface="Courier New" panose="02070309020205020404" pitchFamily="49" charset="0"/>
              </a:rPr>
              <a:t>van := (A(közép) == X)</a:t>
            </a:r>
          </a:p>
          <a:p>
            <a:pPr lvl="1">
              <a:lnSpc>
                <a:spcPts val="2800"/>
              </a:lnSpc>
            </a:pPr>
            <a:r>
              <a:rPr lang="hu-HU" b="1" dirty="0">
                <a:latin typeface="Courier New" panose="02070309020205020404" pitchFamily="49" charset="0"/>
                <a:cs typeface="Courier New" panose="02070309020205020404" pitchFamily="49" charset="0"/>
              </a:rPr>
              <a:t>Ha van </a:t>
            </a:r>
          </a:p>
          <a:p>
            <a:pPr lvl="1">
              <a:lnSpc>
                <a:spcPts val="2800"/>
              </a:lnSpc>
            </a:pPr>
            <a:r>
              <a:rPr lang="hu-HU" b="1" dirty="0">
                <a:latin typeface="Courier New" panose="02070309020205020404" pitchFamily="49" charset="0"/>
                <a:cs typeface="Courier New" panose="02070309020205020404" pitchFamily="49" charset="0"/>
              </a:rPr>
              <a:t>	akkor SORSZÁM := közép</a:t>
            </a:r>
          </a:p>
          <a:p>
            <a:pPr lvl="1">
              <a:lnSpc>
                <a:spcPts val="2800"/>
              </a:lnSpc>
            </a:pPr>
            <a:r>
              <a:rPr lang="hu-HU" b="1" dirty="0">
                <a:latin typeface="Courier New" panose="02070309020205020404" pitchFamily="49" charset="0"/>
                <a:cs typeface="Courier New" panose="02070309020205020404" pitchFamily="49" charset="0"/>
              </a:rPr>
              <a:t>Ki: van, sorszám</a:t>
            </a:r>
          </a:p>
        </p:txBody>
      </p:sp>
    </p:spTree>
    <p:extLst>
      <p:ext uri="{BB962C8B-B14F-4D97-AF65-F5344CB8AC3E}">
        <p14:creationId xmlns:p14="http://schemas.microsoft.com/office/powerpoint/2010/main" val="358105205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Összetett tételek</a:t>
            </a:r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>
          <a:xfrm>
            <a:off x="820615" y="926856"/>
            <a:ext cx="10308494" cy="4611519"/>
          </a:xfrm>
        </p:spPr>
        <p:txBody>
          <a:bodyPr/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hu-HU" dirty="0"/>
              <a:t>Kiválogatás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hu-HU" dirty="0"/>
              <a:t>Szétválogatás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hu-HU" dirty="0"/>
              <a:t>Metszet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hu-HU" dirty="0"/>
              <a:t>Unió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hu-HU" dirty="0"/>
              <a:t>Rendezés:</a:t>
            </a:r>
          </a:p>
          <a:p>
            <a:pPr marL="1028700" lvl="1" indent="-342900">
              <a:lnSpc>
                <a:spcPct val="150000"/>
              </a:lnSpc>
            </a:pPr>
            <a:r>
              <a:rPr lang="hu-HU" dirty="0"/>
              <a:t>Maximum kiválasztással</a:t>
            </a:r>
          </a:p>
          <a:p>
            <a:pPr marL="1028700" lvl="1" indent="-342900">
              <a:lnSpc>
                <a:spcPct val="150000"/>
              </a:lnSpc>
            </a:pPr>
            <a:r>
              <a:rPr lang="hu-HU" dirty="0"/>
              <a:t>Buborékos</a:t>
            </a:r>
          </a:p>
        </p:txBody>
      </p:sp>
    </p:spTree>
    <p:extLst>
      <p:ext uri="{BB962C8B-B14F-4D97-AF65-F5344CB8AC3E}">
        <p14:creationId xmlns:p14="http://schemas.microsoft.com/office/powerpoint/2010/main" val="870128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-téma">
  <a:themeElements>
    <a:clrScheme name="Office-téma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-téma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-téma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üres" id="{34F3F58D-4847-4E1F-8B70-8051CA8483FD}" vid="{982873E5-77B9-441B-88FA-6BDE2FE0219A}"/>
    </a:ext>
  </a:extLst>
</a:theme>
</file>

<file path=ppt/theme/theme2.xml><?xml version="1.0" encoding="utf-8"?>
<a:theme xmlns:a="http://schemas.openxmlformats.org/drawingml/2006/main" name="Office-té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üres</Template>
  <TotalTime>0</TotalTime>
  <Words>1048</Words>
  <Application>Microsoft Office PowerPoint</Application>
  <PresentationFormat>Szélesvásznú</PresentationFormat>
  <Paragraphs>143</Paragraphs>
  <Slides>13</Slides>
  <Notes>0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6</vt:i4>
      </vt:variant>
      <vt:variant>
        <vt:lpstr>Téma</vt:lpstr>
      </vt:variant>
      <vt:variant>
        <vt:i4>1</vt:i4>
      </vt:variant>
      <vt:variant>
        <vt:lpstr>Diacímek</vt:lpstr>
      </vt:variant>
      <vt:variant>
        <vt:i4>13</vt:i4>
      </vt:variant>
    </vt:vector>
  </HeadingPairs>
  <TitlesOfParts>
    <vt:vector size="20" baseType="lpstr">
      <vt:lpstr>Arial</vt:lpstr>
      <vt:lpstr>Calibri</vt:lpstr>
      <vt:lpstr>Consolas</vt:lpstr>
      <vt:lpstr>Courier New</vt:lpstr>
      <vt:lpstr>Tahoma</vt:lpstr>
      <vt:lpstr>Times New Roman</vt:lpstr>
      <vt:lpstr>Office-téma</vt:lpstr>
      <vt:lpstr>PowerPoint-bemutató</vt:lpstr>
      <vt:lpstr>Programozási tételek fogalma, szerepe</vt:lpstr>
      <vt:lpstr>Összegzés</vt:lpstr>
      <vt:lpstr>Eldöntés</vt:lpstr>
      <vt:lpstr>Eldöntés</vt:lpstr>
      <vt:lpstr>Megszámlálás</vt:lpstr>
      <vt:lpstr>Megszámlálás</vt:lpstr>
      <vt:lpstr>Maximum/minimum kiválasztás</vt:lpstr>
      <vt:lpstr>Maximum/minimum kiválasztás</vt:lpstr>
      <vt:lpstr>Kiválasztás</vt:lpstr>
      <vt:lpstr>Keresés</vt:lpstr>
      <vt:lpstr>Logaritmikus keresés</vt:lpstr>
      <vt:lpstr>Összetett tételek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bemutató</dc:title>
  <dc:creator>Bognár Pál</dc:creator>
  <cp:lastModifiedBy>Bognár Pál</cp:lastModifiedBy>
  <cp:revision>44</cp:revision>
  <dcterms:created xsi:type="dcterms:W3CDTF">2014-11-01T19:32:58Z</dcterms:created>
  <dcterms:modified xsi:type="dcterms:W3CDTF">2023-11-22T10:14:52Z</dcterms:modified>
</cp:coreProperties>
</file>